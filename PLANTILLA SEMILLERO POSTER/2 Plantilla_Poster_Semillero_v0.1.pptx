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56" r:id="rId5"/>
    <p:sldId id="257" r:id="rId6"/>
  </p:sldIdLst>
  <p:sldSz cx="30275213" cy="42803763"/>
  <p:notesSz cx="42803763" cy="302752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8AFE08-2C65-435E-AF6C-A5ACA70747D9}" v="7" dt="2026-09-13T19:21:11.6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3" d="100"/>
          <a:sy n="33" d="100"/>
        </p:scale>
        <p:origin x="318" y="-29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Melquicedet Galindo Joya" userId="c8511f46-7dd3-45db-bb98-9ae63dca33bd" providerId="ADAL" clId="{E46654F2-1B07-4280-9D98-8487E28589BA}"/>
    <pc:docChg chg="undo custSel modSld">
      <pc:chgData name="Juan Melquicedet Galindo Joya" userId="c8511f46-7dd3-45db-bb98-9ae63dca33bd" providerId="ADAL" clId="{E46654F2-1B07-4280-9D98-8487E28589BA}" dt="2026-09-13T19:23:00.190" v="79" actId="20577"/>
      <pc:docMkLst>
        <pc:docMk/>
      </pc:docMkLst>
      <pc:sldChg chg="addSp delSp modSp mod">
        <pc:chgData name="Juan Melquicedet Galindo Joya" userId="c8511f46-7dd3-45db-bb98-9ae63dca33bd" providerId="ADAL" clId="{E46654F2-1B07-4280-9D98-8487E28589BA}" dt="2026-09-13T19:19:51.053" v="32" actId="20577"/>
        <pc:sldMkLst>
          <pc:docMk/>
          <pc:sldMk cId="0" sldId="256"/>
        </pc:sldMkLst>
        <pc:spChg chg="mod">
          <ac:chgData name="Juan Melquicedet Galindo Joya" userId="c8511f46-7dd3-45db-bb98-9ae63dca33bd" providerId="ADAL" clId="{E46654F2-1B07-4280-9D98-8487E28589BA}" dt="2026-09-13T19:17:13.640" v="27" actId="403"/>
          <ac:spMkLst>
            <pc:docMk/>
            <pc:sldMk cId="0" sldId="256"/>
            <ac:spMk id="14" creationId="{00000000-0000-0000-0000-000000000000}"/>
          </ac:spMkLst>
        </pc:spChg>
        <pc:spChg chg="mod">
          <ac:chgData name="Juan Melquicedet Galindo Joya" userId="c8511f46-7dd3-45db-bb98-9ae63dca33bd" providerId="ADAL" clId="{E46654F2-1B07-4280-9D98-8487E28589BA}" dt="2026-09-13T19:19:51.053" v="32" actId="20577"/>
          <ac:spMkLst>
            <pc:docMk/>
            <pc:sldMk cId="0" sldId="256"/>
            <ac:spMk id="36" creationId="{00000000-0000-0000-0000-000000000000}"/>
          </ac:spMkLst>
        </pc:spChg>
        <pc:spChg chg="del">
          <ac:chgData name="Juan Melquicedet Galindo Joya" userId="c8511f46-7dd3-45db-bb98-9ae63dca33bd" providerId="ADAL" clId="{E46654F2-1B07-4280-9D98-8487E28589BA}" dt="2026-09-13T19:15:34.333" v="7" actId="478"/>
          <ac:spMkLst>
            <pc:docMk/>
            <pc:sldMk cId="0" sldId="256"/>
            <ac:spMk id="46" creationId="{00000000-0000-0000-0000-000000000000}"/>
          </ac:spMkLst>
        </pc:spChg>
        <pc:spChg chg="del">
          <ac:chgData name="Juan Melquicedet Galindo Joya" userId="c8511f46-7dd3-45db-bb98-9ae63dca33bd" providerId="ADAL" clId="{E46654F2-1B07-4280-9D98-8487E28589BA}" dt="2026-09-13T19:15:36.664" v="8" actId="478"/>
          <ac:spMkLst>
            <pc:docMk/>
            <pc:sldMk cId="0" sldId="256"/>
            <ac:spMk id="47" creationId="{00000000-0000-0000-0000-000000000000}"/>
          </ac:spMkLst>
        </pc:spChg>
        <pc:spChg chg="del">
          <ac:chgData name="Juan Melquicedet Galindo Joya" userId="c8511f46-7dd3-45db-bb98-9ae63dca33bd" providerId="ADAL" clId="{E46654F2-1B07-4280-9D98-8487E28589BA}" dt="2026-09-13T19:15:44.619" v="11" actId="478"/>
          <ac:spMkLst>
            <pc:docMk/>
            <pc:sldMk cId="0" sldId="256"/>
            <ac:spMk id="48" creationId="{00000000-0000-0000-0000-000000000000}"/>
          </ac:spMkLst>
        </pc:spChg>
        <pc:spChg chg="del">
          <ac:chgData name="Juan Melquicedet Galindo Joya" userId="c8511f46-7dd3-45db-bb98-9ae63dca33bd" providerId="ADAL" clId="{E46654F2-1B07-4280-9D98-8487E28589BA}" dt="2026-09-13T19:15:40.735" v="9" actId="478"/>
          <ac:spMkLst>
            <pc:docMk/>
            <pc:sldMk cId="0" sldId="256"/>
            <ac:spMk id="49" creationId="{00000000-0000-0000-0000-000000000000}"/>
          </ac:spMkLst>
        </pc:spChg>
        <pc:spChg chg="del">
          <ac:chgData name="Juan Melquicedet Galindo Joya" userId="c8511f46-7dd3-45db-bb98-9ae63dca33bd" providerId="ADAL" clId="{E46654F2-1B07-4280-9D98-8487E28589BA}" dt="2026-09-13T19:15:42.253" v="10" actId="478"/>
          <ac:spMkLst>
            <pc:docMk/>
            <pc:sldMk cId="0" sldId="256"/>
            <ac:spMk id="50" creationId="{00000000-0000-0000-0000-000000000000}"/>
          </ac:spMkLst>
        </pc:spChg>
        <pc:picChg chg="add mod">
          <ac:chgData name="Juan Melquicedet Galindo Joya" userId="c8511f46-7dd3-45db-bb98-9ae63dca33bd" providerId="ADAL" clId="{E46654F2-1B07-4280-9D98-8487E28589BA}" dt="2026-09-13T19:15:58.713" v="14" actId="1076"/>
          <ac:picMkLst>
            <pc:docMk/>
            <pc:sldMk cId="0" sldId="256"/>
            <ac:picMk id="3" creationId="{212CC789-19F0-E78A-5B87-A98FB572E9B3}"/>
          </ac:picMkLst>
        </pc:picChg>
        <pc:picChg chg="add mod">
          <ac:chgData name="Juan Melquicedet Galindo Joya" userId="c8511f46-7dd3-45db-bb98-9ae63dca33bd" providerId="ADAL" clId="{E46654F2-1B07-4280-9D98-8487E28589BA}" dt="2026-09-13T19:16:12.817" v="18" actId="1076"/>
          <ac:picMkLst>
            <pc:docMk/>
            <pc:sldMk cId="0" sldId="256"/>
            <ac:picMk id="5" creationId="{0287DEAA-B0D9-3492-2A47-A37646E81B55}"/>
          </ac:picMkLst>
        </pc:picChg>
        <pc:picChg chg="del">
          <ac:chgData name="Juan Melquicedet Galindo Joya" userId="c8511f46-7dd3-45db-bb98-9ae63dca33bd" providerId="ADAL" clId="{E46654F2-1B07-4280-9D98-8487E28589BA}" dt="2026-09-13T19:15:07.364" v="0" actId="478"/>
          <ac:picMkLst>
            <pc:docMk/>
            <pc:sldMk cId="0" sldId="256"/>
            <ac:picMk id="104" creationId="{6DB412E4-F49F-0326-DA61-C1939ABFFE31}"/>
          </ac:picMkLst>
        </pc:picChg>
        <pc:picChg chg="mod">
          <ac:chgData name="Juan Melquicedet Galindo Joya" userId="c8511f46-7dd3-45db-bb98-9ae63dca33bd" providerId="ADAL" clId="{E46654F2-1B07-4280-9D98-8487E28589BA}" dt="2026-09-13T19:15:16.201" v="3" actId="1076"/>
          <ac:picMkLst>
            <pc:docMk/>
            <pc:sldMk cId="0" sldId="256"/>
            <ac:picMk id="105" creationId="{40AF043E-825C-2E81-F4F3-3B6FC24222C1}"/>
          </ac:picMkLst>
        </pc:picChg>
      </pc:sldChg>
      <pc:sldChg chg="modSp mod">
        <pc:chgData name="Juan Melquicedet Galindo Joya" userId="c8511f46-7dd3-45db-bb98-9ae63dca33bd" providerId="ADAL" clId="{E46654F2-1B07-4280-9D98-8487E28589BA}" dt="2026-09-13T19:23:00.190" v="79" actId="20577"/>
        <pc:sldMkLst>
          <pc:docMk/>
          <pc:sldMk cId="0" sldId="257"/>
        </pc:sldMkLst>
        <pc:spChg chg="mod">
          <ac:chgData name="Juan Melquicedet Galindo Joya" userId="c8511f46-7dd3-45db-bb98-9ae63dca33bd" providerId="ADAL" clId="{E46654F2-1B07-4280-9D98-8487E28589BA}" dt="2026-09-13T19:23:00.190" v="79" actId="20577"/>
          <ac:spMkLst>
            <pc:docMk/>
            <pc:sldMk cId="0" sldId="257"/>
            <ac:spMk id="3" creationId="{00000000-0000-0000-0000-000000000000}"/>
          </ac:spMkLst>
        </pc:spChg>
        <pc:picChg chg="mod">
          <ac:chgData name="Juan Melquicedet Galindo Joya" userId="c8511f46-7dd3-45db-bb98-9ae63dca33bd" providerId="ADAL" clId="{E46654F2-1B07-4280-9D98-8487E28589BA}" dt="2026-09-13T19:19:25.199" v="31" actId="1076"/>
          <ac:picMkLst>
            <pc:docMk/>
            <pc:sldMk cId="0" sldId="257"/>
            <ac:picMk id="8" creationId="{539AF15A-F345-84B2-4326-7B4B875A109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9189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hyperlink" Target="mailto:jmelquicedetgalindo@ucompensar.edu.co" TargetMode="Externa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jpe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8995624" cy="3840480"/>
          </a:xfrm>
          <a:prstGeom prst="rect">
            <a:avLst/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4" name="Text 2"/>
          <p:cNvSpPr/>
          <p:nvPr/>
        </p:nvSpPr>
        <p:spPr>
          <a:xfrm>
            <a:off x="868680" y="109728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22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s-CO" sz="2200" noProof="0" dirty="0"/>
          </a:p>
          <a:p>
            <a:pPr marL="0" indent="0" algn="ctr">
              <a:buNone/>
            </a:pPr>
            <a:r>
              <a:rPr lang="es-CO" sz="22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Institución</a:t>
            </a:r>
            <a:endParaRPr lang="es-CO" sz="2200" noProof="0" dirty="0"/>
          </a:p>
        </p:txBody>
      </p:sp>
      <p:sp>
        <p:nvSpPr>
          <p:cNvPr id="7" name="Text 5"/>
          <p:cNvSpPr/>
          <p:nvPr/>
        </p:nvSpPr>
        <p:spPr>
          <a:xfrm>
            <a:off x="5417820" y="839204"/>
            <a:ext cx="2241194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CO" sz="6000" b="1" dirty="0"/>
              <a:t>Interconexión de red  entre el edificio U. Compensar y la C. U. R. Compensar</a:t>
            </a:r>
          </a:p>
        </p:txBody>
      </p:sp>
      <p:sp>
        <p:nvSpPr>
          <p:cNvPr id="8" name="Text 6"/>
          <p:cNvSpPr/>
          <p:nvPr/>
        </p:nvSpPr>
        <p:spPr>
          <a:xfrm>
            <a:off x="3931920" y="2736584"/>
            <a:ext cx="22411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CO" sz="34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Autores: </a:t>
            </a:r>
            <a:r>
              <a:rPr lang="es-CO" sz="3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Juan Melquicedet Galindo Joya</a:t>
            </a:r>
            <a:r>
              <a:rPr lang="es-CO" sz="34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| Semillero | </a:t>
            </a:r>
            <a:r>
              <a:rPr lang="es-CO" sz="3400" dirty="0"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jmelquicedetgalindo@ucompensar.edu.co</a:t>
            </a:r>
            <a:endParaRPr lang="es-CO" sz="34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s-CO" sz="34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931920" y="3154680"/>
            <a:ext cx="22411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34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Fundación Universitaria Compensar – Facultad de Ingeniería</a:t>
            </a:r>
            <a:endParaRPr lang="es-CO" sz="3400" noProof="0" dirty="0"/>
          </a:p>
        </p:txBody>
      </p:sp>
      <p:sp>
        <p:nvSpPr>
          <p:cNvPr id="10" name="Text 8"/>
          <p:cNvSpPr/>
          <p:nvPr/>
        </p:nvSpPr>
        <p:spPr>
          <a:xfrm>
            <a:off x="3931920" y="3703320"/>
            <a:ext cx="22411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24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Fecha: </a:t>
            </a:r>
            <a:r>
              <a:rPr lang="es-CO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r>
              <a:rPr lang="es-CO" sz="24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-05-05</a:t>
            </a:r>
            <a:endParaRPr lang="es-CO" sz="2400" noProof="0" dirty="0"/>
          </a:p>
        </p:txBody>
      </p:sp>
      <p:sp>
        <p:nvSpPr>
          <p:cNvPr id="11" name="Shape 9"/>
          <p:cNvSpPr/>
          <p:nvPr/>
        </p:nvSpPr>
        <p:spPr>
          <a:xfrm>
            <a:off x="640080" y="4572000"/>
            <a:ext cx="9360408" cy="5693969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9360408" cy="5303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3" name="Text 11"/>
          <p:cNvSpPr/>
          <p:nvPr/>
        </p:nvSpPr>
        <p:spPr>
          <a:xfrm>
            <a:off x="868680" y="4645152"/>
            <a:ext cx="8903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6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1. Problema y evidencia</a:t>
            </a:r>
            <a:endParaRPr lang="es-CO" sz="3600" noProof="0" dirty="0"/>
          </a:p>
        </p:txBody>
      </p:sp>
      <p:sp>
        <p:nvSpPr>
          <p:cNvPr id="14" name="Text 12"/>
          <p:cNvSpPr/>
          <p:nvPr/>
        </p:nvSpPr>
        <p:spPr>
          <a:xfrm>
            <a:off x="868680" y="5212080"/>
            <a:ext cx="8903208" cy="50701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 algn="just">
              <a:lnSpc>
                <a:spcPct val="100000"/>
              </a:lnSpc>
              <a:buSzPct val="100000"/>
              <a:buChar char="•"/>
            </a:pPr>
            <a:r>
              <a:rPr lang="es-CO" sz="2800" dirty="0"/>
              <a:t>Eliminar este dato por completo: el tráfico institucional entre sedes no viaja por internet público, viaja por un enlace MPLS dedicado. Reemplazar por: 'Riesgo de dependencia de proveedor/ruta física en el enlace MPLS existente, pese a contar con redundancia multicapa (confirmado con Datacenter U compensar)</a:t>
            </a:r>
          </a:p>
        </p:txBody>
      </p:sp>
      <p:sp>
        <p:nvSpPr>
          <p:cNvPr id="15" name="Shape 13"/>
          <p:cNvSpPr/>
          <p:nvPr/>
        </p:nvSpPr>
        <p:spPr>
          <a:xfrm>
            <a:off x="640080" y="10448849"/>
            <a:ext cx="9360408" cy="4898441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6" name="Shape 14"/>
          <p:cNvSpPr/>
          <p:nvPr/>
        </p:nvSpPr>
        <p:spPr>
          <a:xfrm>
            <a:off x="640080" y="10448849"/>
            <a:ext cx="9360408" cy="530352"/>
          </a:xfrm>
          <a:prstGeom prst="rect">
            <a:avLst/>
          </a:prstGeom>
          <a:solidFill>
            <a:srgbClr val="92D050"/>
          </a:solidFill>
          <a:ln w="12700">
            <a:solidFill>
              <a:srgbClr val="92D05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7" name="Text 15"/>
          <p:cNvSpPr/>
          <p:nvPr/>
        </p:nvSpPr>
        <p:spPr>
          <a:xfrm>
            <a:off x="868680" y="10522001"/>
            <a:ext cx="8903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6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2. Objetivos y contribuciones</a:t>
            </a:r>
            <a:endParaRPr lang="es-CO" sz="3600" noProof="0" dirty="0"/>
          </a:p>
        </p:txBody>
      </p:sp>
      <p:sp>
        <p:nvSpPr>
          <p:cNvPr id="18" name="Text 16"/>
          <p:cNvSpPr/>
          <p:nvPr/>
        </p:nvSpPr>
        <p:spPr>
          <a:xfrm>
            <a:off x="868680" y="11088929"/>
            <a:ext cx="8903208" cy="42583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 algn="just">
              <a:lnSpc>
                <a:spcPct val="112000"/>
              </a:lnSpc>
              <a:buSzPct val="100000"/>
              <a:buChar char="•"/>
            </a:pPr>
            <a:r>
              <a:rPr lang="es-MX" sz="2800" dirty="0"/>
              <a:t>Diseñar y evaluar una arquitectura segura de interconexión entre la sede principal y la sede CUR de la Universidad Compensar mediante una solución híbrida de fibra óptica y radioenlace.</a:t>
            </a:r>
            <a:r>
              <a:rPr lang="es-CO" sz="2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O" sz="2600" noProof="0" dirty="0"/>
          </a:p>
          <a:p>
            <a:pPr marL="279400" indent="-279400">
              <a:lnSpc>
                <a:spcPct val="112000"/>
              </a:lnSpc>
              <a:buSzPct val="100000"/>
              <a:buChar char="•"/>
            </a:pPr>
            <a:r>
              <a:rPr lang="es-CO" sz="2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Analizar requerimientos de comunicación, Diseñar arquitectura hibrida, Evaluar desempeño mediante simulación.</a:t>
            </a:r>
          </a:p>
          <a:p>
            <a:pPr marL="279400" indent="-279400">
              <a:lnSpc>
                <a:spcPct val="112000"/>
              </a:lnSpc>
              <a:buSzPct val="100000"/>
              <a:buChar char="•"/>
            </a:pPr>
            <a:r>
              <a:rPr lang="es-MX" sz="2800" dirty="0"/>
              <a:t>Se propone una arquitectura híbrida con redundancia y criterios de seguridad, orientada a mejorar disponibilidad, latencia y continuidad operativa.</a:t>
            </a:r>
            <a:endParaRPr lang="es-CO" sz="2600" noProof="0" dirty="0"/>
          </a:p>
        </p:txBody>
      </p:sp>
      <p:sp>
        <p:nvSpPr>
          <p:cNvPr id="19" name="Shape 17"/>
          <p:cNvSpPr/>
          <p:nvPr/>
        </p:nvSpPr>
        <p:spPr>
          <a:xfrm>
            <a:off x="640080" y="15457018"/>
            <a:ext cx="9360408" cy="869045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0" name="Shape 18"/>
          <p:cNvSpPr/>
          <p:nvPr/>
        </p:nvSpPr>
        <p:spPr>
          <a:xfrm>
            <a:off x="640080" y="15457018"/>
            <a:ext cx="9360408" cy="5303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1" name="Text 19"/>
          <p:cNvSpPr/>
          <p:nvPr/>
        </p:nvSpPr>
        <p:spPr>
          <a:xfrm>
            <a:off x="868680" y="15530170"/>
            <a:ext cx="8903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6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3. Estado del arte (con brecha)</a:t>
            </a:r>
            <a:endParaRPr lang="es-CO" sz="3600" noProof="0" dirty="0"/>
          </a:p>
        </p:txBody>
      </p:sp>
      <p:sp>
        <p:nvSpPr>
          <p:cNvPr id="22" name="Text 20"/>
          <p:cNvSpPr/>
          <p:nvPr/>
        </p:nvSpPr>
        <p:spPr>
          <a:xfrm>
            <a:off x="868680" y="16097098"/>
            <a:ext cx="890320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2000"/>
              </a:lnSpc>
              <a:buSzPct val="100000"/>
              <a:buChar char="•"/>
            </a:pPr>
            <a:r>
              <a:rPr lang="es-MX" sz="2800" dirty="0"/>
              <a:t>Las soluciones de interconexión entre sedes se clasifican en </a:t>
            </a:r>
            <a:r>
              <a:rPr lang="es-MX" sz="2800" b="1" dirty="0"/>
              <a:t>fibra óptica</a:t>
            </a:r>
            <a:r>
              <a:rPr lang="es-MX" sz="2800" dirty="0"/>
              <a:t>, </a:t>
            </a:r>
            <a:r>
              <a:rPr lang="es-MX" sz="2800" b="1" dirty="0"/>
              <a:t>radioenlaces punto a punto</a:t>
            </a:r>
            <a:r>
              <a:rPr lang="es-MX" sz="2800" dirty="0"/>
              <a:t>, </a:t>
            </a:r>
            <a:r>
              <a:rPr lang="es-MX" sz="2800" b="1" dirty="0"/>
              <a:t>redes privadas virtuales (VPN/MPLS)</a:t>
            </a:r>
            <a:r>
              <a:rPr lang="es-MX" sz="2800" dirty="0"/>
              <a:t> y </a:t>
            </a:r>
            <a:r>
              <a:rPr lang="es-MX" sz="2800" b="1" dirty="0"/>
              <a:t>arquitecturas híbridas</a:t>
            </a:r>
            <a:r>
              <a:rPr lang="es-MX" sz="2800" dirty="0"/>
              <a:t>. Cada tecnología ofrece ventajas en capacidad, institucionales.</a:t>
            </a:r>
            <a:endParaRPr lang="es-CO" sz="2600" noProof="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68680" y="19916546"/>
            <a:ext cx="8903208" cy="4121201"/>
          </a:xfrm>
          <a:prstGeom prst="rect">
            <a:avLst/>
          </a:prstGeom>
          <a:solidFill>
            <a:srgbClr val="F9FAFB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4" name="Text 22"/>
          <p:cNvSpPr/>
          <p:nvPr/>
        </p:nvSpPr>
        <p:spPr>
          <a:xfrm>
            <a:off x="1005840" y="18245938"/>
            <a:ext cx="8628888" cy="56089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s-CO" sz="2200" noProof="0" dirty="0"/>
          </a:p>
        </p:txBody>
      </p:sp>
      <p:sp>
        <p:nvSpPr>
          <p:cNvPr id="25" name="Shape 23"/>
          <p:cNvSpPr/>
          <p:nvPr/>
        </p:nvSpPr>
        <p:spPr>
          <a:xfrm>
            <a:off x="640080" y="24376075"/>
            <a:ext cx="9360408" cy="825520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6" name="Shape 24"/>
          <p:cNvSpPr/>
          <p:nvPr/>
        </p:nvSpPr>
        <p:spPr>
          <a:xfrm>
            <a:off x="640080" y="24376075"/>
            <a:ext cx="9360408" cy="53035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7" name="Text 25"/>
          <p:cNvSpPr/>
          <p:nvPr/>
        </p:nvSpPr>
        <p:spPr>
          <a:xfrm>
            <a:off x="868680" y="24449227"/>
            <a:ext cx="8903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6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4. Metodología (replicable)</a:t>
            </a:r>
            <a:endParaRPr lang="es-CO" sz="3600" noProof="0" dirty="0"/>
          </a:p>
        </p:txBody>
      </p:sp>
      <p:sp>
        <p:nvSpPr>
          <p:cNvPr id="28" name="Text 26"/>
          <p:cNvSpPr/>
          <p:nvPr/>
        </p:nvSpPr>
        <p:spPr>
          <a:xfrm>
            <a:off x="868680" y="25016155"/>
            <a:ext cx="8903208" cy="75053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2000"/>
              </a:lnSpc>
              <a:buSzPct val="100000"/>
              <a:buChar char="•"/>
            </a:pPr>
            <a:r>
              <a:rPr lang="es-MX" sz="2800" dirty="0"/>
              <a:t>Se empleó Cisco Packet Tracer para el diseño lógico de la topología, GNS3 para pruebas avanzadas de enrutamiento y Microsoft Visio para la representación de la arquitectura física y lógica.</a:t>
            </a:r>
            <a:endParaRPr lang="es-CO" sz="2600" noProof="0" dirty="0"/>
          </a:p>
          <a:p>
            <a:pPr marL="279400" indent="-279400">
              <a:lnSpc>
                <a:spcPct val="112000"/>
              </a:lnSpc>
              <a:buSzPct val="100000"/>
              <a:buChar char="•"/>
            </a:pPr>
            <a:r>
              <a:rPr lang="es-MX" sz="2800" dirty="0"/>
              <a:t>Variables independientes: tipo de enlace (fibra/radio), capacidad del canal y política de redundancia.</a:t>
            </a:r>
          </a:p>
          <a:p>
            <a:pPr marL="279400" indent="-279400">
              <a:lnSpc>
                <a:spcPct val="112000"/>
              </a:lnSpc>
              <a:buSzPct val="100000"/>
              <a:buChar char="•"/>
            </a:pPr>
            <a:r>
              <a:rPr lang="es-MX" sz="2800" dirty="0"/>
              <a:t>Variables dependientes: latencia, jitter, throughput y disponibilidad.</a:t>
            </a:r>
            <a:endParaRPr lang="es-CO" sz="2600" noProof="0" dirty="0"/>
          </a:p>
          <a:p>
            <a:pPr marL="279400" indent="-279400">
              <a:lnSpc>
                <a:spcPct val="112000"/>
              </a:lnSpc>
              <a:buSzPct val="100000"/>
              <a:buChar char="•"/>
            </a:pPr>
            <a:r>
              <a:rPr lang="es-MX" sz="2800" dirty="0"/>
              <a:t>Latencia (ms), jitter (ms), pérdida de paquetes (%), throughput (Mbps) y disponibilidad (%).</a:t>
            </a:r>
          </a:p>
          <a:p>
            <a:pPr marL="279400" indent="-279400">
              <a:lnSpc>
                <a:spcPct val="112000"/>
              </a:lnSpc>
              <a:buSzPct val="100000"/>
              <a:buChar char="•"/>
            </a:pPr>
            <a:r>
              <a:rPr lang="es-MX" sz="2800" dirty="0"/>
              <a:t>Diseño → simulación → generación de tráfico → medición → análisis comparativo → validación.</a:t>
            </a:r>
            <a:r>
              <a:rPr lang="es-CO" sz="2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O" sz="2600" noProof="0" dirty="0"/>
          </a:p>
        </p:txBody>
      </p:sp>
      <p:sp>
        <p:nvSpPr>
          <p:cNvPr id="29" name="Shape 27"/>
          <p:cNvSpPr/>
          <p:nvPr/>
        </p:nvSpPr>
        <p:spPr>
          <a:xfrm>
            <a:off x="640080" y="32859878"/>
            <a:ext cx="9360408" cy="529873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0" name="Shape 28"/>
          <p:cNvSpPr/>
          <p:nvPr/>
        </p:nvSpPr>
        <p:spPr>
          <a:xfrm>
            <a:off x="640080" y="32859878"/>
            <a:ext cx="9360408" cy="5303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1" name="Text 29"/>
          <p:cNvSpPr/>
          <p:nvPr/>
        </p:nvSpPr>
        <p:spPr>
          <a:xfrm>
            <a:off x="868680" y="32933030"/>
            <a:ext cx="8903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6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5. Reproducibilidad</a:t>
            </a:r>
            <a:endParaRPr lang="es-CO" sz="3600" noProof="0" dirty="0"/>
          </a:p>
        </p:txBody>
      </p:sp>
      <p:sp>
        <p:nvSpPr>
          <p:cNvPr id="32" name="Text 30"/>
          <p:cNvSpPr/>
          <p:nvPr/>
        </p:nvSpPr>
        <p:spPr>
          <a:xfrm>
            <a:off x="868680" y="33499958"/>
            <a:ext cx="8903208" cy="48024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>
              <a:lnSpc>
                <a:spcPct val="112000"/>
              </a:lnSpc>
              <a:buSzPct val="100000"/>
            </a:pPr>
            <a:r>
              <a:rPr lang="es-MX" sz="2800" dirty="0"/>
              <a:t>La propuesta metodológica fue estructurada bajo un esquema replicable, documentando la arquitectura de interconexión híbrida planteada, la topología lógica de red, los parámetros de simulación y las condiciones experimentales empleadas durante la validación. Se definieron escenarios controlados de tráfico institucional (voz, datos y video), así como pruebas de operación normal y contingencia para evaluar el comportamiento del enlace principal de fibra óptica y el radioenlace de respaldo.</a:t>
            </a:r>
            <a:endParaRPr lang="es-CO" sz="2600" noProof="0" dirty="0"/>
          </a:p>
        </p:txBody>
      </p:sp>
      <p:sp>
        <p:nvSpPr>
          <p:cNvPr id="33" name="Shape 31"/>
          <p:cNvSpPr/>
          <p:nvPr/>
        </p:nvSpPr>
        <p:spPr>
          <a:xfrm>
            <a:off x="640080" y="38302387"/>
            <a:ext cx="9360408" cy="3404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4" name="Shape 32"/>
          <p:cNvSpPr/>
          <p:nvPr/>
        </p:nvSpPr>
        <p:spPr>
          <a:xfrm>
            <a:off x="640080" y="38302387"/>
            <a:ext cx="9360408" cy="5303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5" name="Text 33"/>
          <p:cNvSpPr/>
          <p:nvPr/>
        </p:nvSpPr>
        <p:spPr>
          <a:xfrm>
            <a:off x="868680" y="38375539"/>
            <a:ext cx="8903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6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6. Agradecimientos (opcional)</a:t>
            </a:r>
            <a:endParaRPr lang="es-CO" sz="3600" noProof="0" dirty="0"/>
          </a:p>
        </p:txBody>
      </p:sp>
      <p:sp>
        <p:nvSpPr>
          <p:cNvPr id="36" name="Text 34"/>
          <p:cNvSpPr/>
          <p:nvPr/>
        </p:nvSpPr>
        <p:spPr>
          <a:xfrm>
            <a:off x="868680" y="38942467"/>
            <a:ext cx="8903208" cy="276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s-MX" sz="2800" dirty="0"/>
              <a:t>A la Facultad de Ingeniería de la Universidad Compensar por facilitar el espacio académico y metodológico para el desarrollo del proyecto y al docente </a:t>
            </a:r>
            <a:r>
              <a:rPr lang="es-MX" sz="2800" b="1" dirty="0"/>
              <a:t>ELKIN LADINO</a:t>
            </a:r>
            <a:r>
              <a:rPr lang="es-MX" sz="2800" dirty="0"/>
              <a:t> asesor del semillero de investigación por la orientación técnica en el planteamiento, análisis y validación de la arquitectura propuesta..</a:t>
            </a:r>
          </a:p>
          <a:p>
            <a:pPr>
              <a:lnSpc>
                <a:spcPct val="112000"/>
              </a:lnSpc>
              <a:buSzPct val="100000"/>
            </a:pPr>
            <a:endParaRPr lang="es-CO" sz="2600" noProof="0" dirty="0"/>
          </a:p>
        </p:txBody>
      </p:sp>
      <p:sp>
        <p:nvSpPr>
          <p:cNvPr id="37" name="Shape 35"/>
          <p:cNvSpPr/>
          <p:nvPr/>
        </p:nvSpPr>
        <p:spPr>
          <a:xfrm>
            <a:off x="10457688" y="4572000"/>
            <a:ext cx="9360408" cy="874532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8" name="Shape 36"/>
          <p:cNvSpPr/>
          <p:nvPr/>
        </p:nvSpPr>
        <p:spPr>
          <a:xfrm>
            <a:off x="10457688" y="4572000"/>
            <a:ext cx="9360408" cy="5303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9" name="Text 37"/>
          <p:cNvSpPr/>
          <p:nvPr/>
        </p:nvSpPr>
        <p:spPr>
          <a:xfrm>
            <a:off x="10686288" y="4645152"/>
            <a:ext cx="8903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6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7. Diseño / Arquitectura</a:t>
            </a:r>
            <a:endParaRPr lang="es-CO" sz="3600" noProof="0" dirty="0"/>
          </a:p>
        </p:txBody>
      </p:sp>
      <p:sp>
        <p:nvSpPr>
          <p:cNvPr id="40" name="Text 38"/>
          <p:cNvSpPr/>
          <p:nvPr/>
        </p:nvSpPr>
        <p:spPr>
          <a:xfrm>
            <a:off x="10686288" y="5212080"/>
            <a:ext cx="890320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  <a:buSzPct val="100000"/>
            </a:pPr>
            <a:endParaRPr lang="es-CO" sz="2600" noProof="0" dirty="0"/>
          </a:p>
        </p:txBody>
      </p:sp>
      <p:sp>
        <p:nvSpPr>
          <p:cNvPr id="41" name="Shape 39"/>
          <p:cNvSpPr/>
          <p:nvPr/>
        </p:nvSpPr>
        <p:spPr>
          <a:xfrm>
            <a:off x="10686288" y="5330951"/>
            <a:ext cx="8903208" cy="7876643"/>
          </a:xfrm>
          <a:prstGeom prst="rect">
            <a:avLst/>
          </a:prstGeom>
          <a:solidFill>
            <a:srgbClr val="F9FAFB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2" name="Text 40"/>
          <p:cNvSpPr/>
          <p:nvPr/>
        </p:nvSpPr>
        <p:spPr>
          <a:xfrm>
            <a:off x="10823448" y="5533035"/>
            <a:ext cx="8628888" cy="74916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s-CO" sz="2200" noProof="0" dirty="0"/>
          </a:p>
        </p:txBody>
      </p:sp>
      <p:sp>
        <p:nvSpPr>
          <p:cNvPr id="43" name="Shape 41"/>
          <p:cNvSpPr/>
          <p:nvPr/>
        </p:nvSpPr>
        <p:spPr>
          <a:xfrm>
            <a:off x="10457688" y="13545922"/>
            <a:ext cx="9360408" cy="6996989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4" name="Shape 42"/>
          <p:cNvSpPr/>
          <p:nvPr/>
        </p:nvSpPr>
        <p:spPr>
          <a:xfrm>
            <a:off x="10457688" y="13545922"/>
            <a:ext cx="9360408" cy="530352"/>
          </a:xfrm>
          <a:prstGeom prst="rect">
            <a:avLst/>
          </a:prstGeom>
          <a:solidFill>
            <a:srgbClr val="92D050"/>
          </a:solidFill>
          <a:ln w="12700">
            <a:solidFill>
              <a:srgbClr val="92D05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5" name="Text 43"/>
          <p:cNvSpPr/>
          <p:nvPr/>
        </p:nvSpPr>
        <p:spPr>
          <a:xfrm>
            <a:off x="10686288" y="13619074"/>
            <a:ext cx="8903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6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8. Implementación / Prototipo</a:t>
            </a:r>
            <a:endParaRPr lang="es-CO" sz="3600" noProof="0" dirty="0"/>
          </a:p>
        </p:txBody>
      </p:sp>
      <p:sp>
        <p:nvSpPr>
          <p:cNvPr id="51" name="Shape 49"/>
          <p:cNvSpPr/>
          <p:nvPr/>
        </p:nvSpPr>
        <p:spPr>
          <a:xfrm>
            <a:off x="10457688" y="20771510"/>
            <a:ext cx="9360408" cy="524774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2" name="Shape 50"/>
          <p:cNvSpPr/>
          <p:nvPr/>
        </p:nvSpPr>
        <p:spPr>
          <a:xfrm>
            <a:off x="10457688" y="20771510"/>
            <a:ext cx="9360408" cy="5303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3" name="Text 51"/>
          <p:cNvSpPr/>
          <p:nvPr/>
        </p:nvSpPr>
        <p:spPr>
          <a:xfrm>
            <a:off x="10686288" y="20844662"/>
            <a:ext cx="8903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6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9. Protocolo experimental (resumen)</a:t>
            </a:r>
            <a:endParaRPr lang="es-CO" sz="3600" noProof="0" dirty="0"/>
          </a:p>
        </p:txBody>
      </p:sp>
      <p:sp>
        <p:nvSpPr>
          <p:cNvPr id="54" name="Text 52"/>
          <p:cNvSpPr/>
          <p:nvPr/>
        </p:nvSpPr>
        <p:spPr>
          <a:xfrm>
            <a:off x="10686288" y="21411590"/>
            <a:ext cx="8903208" cy="44979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 algn="just">
              <a:lnSpc>
                <a:spcPct val="112000"/>
              </a:lnSpc>
              <a:buSzPct val="100000"/>
              <a:buChar char="•"/>
            </a:pPr>
            <a:r>
              <a:rPr lang="es-MX" sz="2800" dirty="0"/>
              <a:t>Se diseñó una topología híbrida con fibra óptica como enlace principal y radioenlace como respaldo. Posteriormente se configuraron rutas, segmentación VLAN, QoS y políticas de conmutación por falla. Finalmente se realizaron pruebas controladas de tráfico institucional (voz, datos y video), midiendo latencia, jitter, throughput y disponibilidad bajo condiciones normales y escenarios de falla.</a:t>
            </a:r>
            <a:endParaRPr lang="es-CO" sz="2600" noProof="0" dirty="0"/>
          </a:p>
        </p:txBody>
      </p:sp>
      <p:sp>
        <p:nvSpPr>
          <p:cNvPr id="55" name="Shape 53"/>
          <p:cNvSpPr/>
          <p:nvPr/>
        </p:nvSpPr>
        <p:spPr>
          <a:xfrm>
            <a:off x="10457688" y="26247852"/>
            <a:ext cx="9360408" cy="9183319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6" name="Shape 54"/>
          <p:cNvSpPr/>
          <p:nvPr/>
        </p:nvSpPr>
        <p:spPr>
          <a:xfrm>
            <a:off x="10457688" y="26247852"/>
            <a:ext cx="9360408" cy="53035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7" name="Text 55"/>
          <p:cNvSpPr/>
          <p:nvPr/>
        </p:nvSpPr>
        <p:spPr>
          <a:xfrm>
            <a:off x="10686288" y="26321004"/>
            <a:ext cx="8903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6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10. Resultados clave (mínimo 2)</a:t>
            </a:r>
            <a:endParaRPr lang="es-CO" sz="3600" noProof="0" dirty="0"/>
          </a:p>
        </p:txBody>
      </p:sp>
      <p:sp>
        <p:nvSpPr>
          <p:cNvPr id="58" name="Text 56"/>
          <p:cNvSpPr/>
          <p:nvPr/>
        </p:nvSpPr>
        <p:spPr>
          <a:xfrm>
            <a:off x="10686288" y="26887932"/>
            <a:ext cx="890320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2000"/>
              </a:lnSpc>
              <a:buSzPct val="100000"/>
              <a:buChar char="•"/>
            </a:pPr>
            <a:r>
              <a:rPr lang="es-CO" sz="2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Reporte: métrica A (unidad) vs </a:t>
            </a:r>
            <a:r>
              <a:rPr lang="es-CO" sz="2600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r>
              <a:rPr lang="es-CO" sz="2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O" sz="2600" noProof="0" dirty="0"/>
          </a:p>
          <a:p>
            <a:pPr marL="279400" indent="-279400">
              <a:lnSpc>
                <a:spcPct val="112000"/>
              </a:lnSpc>
              <a:buSzPct val="100000"/>
              <a:buChar char="•"/>
            </a:pPr>
            <a:r>
              <a:rPr lang="es-CO" sz="2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Reporte: métrica B (unidad) vs </a:t>
            </a:r>
            <a:r>
              <a:rPr lang="es-CO" sz="2600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r>
              <a:rPr lang="es-CO" sz="2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O" sz="2600" noProof="0" dirty="0"/>
          </a:p>
          <a:p>
            <a:pPr marL="279400" indent="-279400">
              <a:lnSpc>
                <a:spcPct val="112000"/>
              </a:lnSpc>
              <a:buSzPct val="100000"/>
              <a:buChar char="•"/>
            </a:pPr>
            <a:r>
              <a:rPr lang="es-CO" sz="2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Incluya n, barras de error/IC, y condiciones de prueba.</a:t>
            </a:r>
            <a:endParaRPr lang="es-CO" sz="2600" noProof="0" dirty="0"/>
          </a:p>
        </p:txBody>
      </p:sp>
      <p:sp>
        <p:nvSpPr>
          <p:cNvPr id="60" name="Text 58"/>
          <p:cNvSpPr/>
          <p:nvPr/>
        </p:nvSpPr>
        <p:spPr>
          <a:xfrm>
            <a:off x="10823448" y="29036772"/>
            <a:ext cx="8628888" cy="61017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O" sz="22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GRÁFICA/TABLA OBLIGATORIA (con unidades, n, barras de error).</a:t>
            </a:r>
            <a:endParaRPr lang="es-CO" sz="2200" noProof="0" dirty="0"/>
          </a:p>
          <a:p>
            <a:pPr marL="0" indent="0">
              <a:buNone/>
            </a:pPr>
            <a:r>
              <a:rPr lang="es-CO" sz="22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Incluya </a:t>
            </a:r>
            <a:r>
              <a:rPr lang="es-CO" sz="2200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r>
              <a:rPr lang="es-CO" sz="22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o referencia.</a:t>
            </a:r>
            <a:endParaRPr lang="es-CO" sz="2200" noProof="0" dirty="0"/>
          </a:p>
        </p:txBody>
      </p:sp>
      <p:sp>
        <p:nvSpPr>
          <p:cNvPr id="61" name="Shape 59"/>
          <p:cNvSpPr/>
          <p:nvPr/>
        </p:nvSpPr>
        <p:spPr>
          <a:xfrm>
            <a:off x="10457688" y="35659771"/>
            <a:ext cx="9360408" cy="60467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62" name="Shape 60"/>
          <p:cNvSpPr/>
          <p:nvPr/>
        </p:nvSpPr>
        <p:spPr>
          <a:xfrm>
            <a:off x="10457688" y="35659771"/>
            <a:ext cx="9360408" cy="5303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63" name="Text 61"/>
          <p:cNvSpPr/>
          <p:nvPr/>
        </p:nvSpPr>
        <p:spPr>
          <a:xfrm>
            <a:off x="10686288" y="35732923"/>
            <a:ext cx="8903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6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11. Materiales y herramientas</a:t>
            </a:r>
            <a:endParaRPr lang="es-CO" sz="3600" noProof="0" dirty="0"/>
          </a:p>
        </p:txBody>
      </p:sp>
      <p:sp>
        <p:nvSpPr>
          <p:cNvPr id="64" name="Text 62"/>
          <p:cNvSpPr/>
          <p:nvPr/>
        </p:nvSpPr>
        <p:spPr>
          <a:xfrm>
            <a:off x="10686288" y="36299851"/>
            <a:ext cx="8903208" cy="52047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s-CO" sz="2800" dirty="0"/>
              <a:t>• </a:t>
            </a:r>
            <a:r>
              <a:rPr lang="es-CO" sz="2800" b="1" dirty="0"/>
              <a:t>Infraestructura de red (referencial):</a:t>
            </a:r>
            <a:r>
              <a:rPr lang="es-CO" sz="2800" dirty="0"/>
              <a:t> router empresarial, switch capa 3, firewall perimetral, módulos SFP/SFP+, cableado de fibra monomodo, transceptores ópticos, antenas PtP carrier-class y sistema UPS de respaldo.</a:t>
            </a:r>
          </a:p>
          <a:p>
            <a:r>
              <a:rPr lang="es-CO" sz="2800" dirty="0"/>
              <a:t>• </a:t>
            </a:r>
            <a:r>
              <a:rPr lang="es-CO" sz="2800" b="1" dirty="0"/>
              <a:t>Software de diseño y simulación:</a:t>
            </a:r>
            <a:r>
              <a:rPr lang="es-CO" sz="2800" dirty="0"/>
              <a:t> Cisco Packet Tracer para modelado lógico, GNS3 para pruebas avanzadas de routing y failover, y Microsoft Visio para diagramación de arquitectura.</a:t>
            </a:r>
          </a:p>
          <a:p>
            <a:r>
              <a:rPr lang="es-CO" sz="2800" dirty="0"/>
              <a:t>• </a:t>
            </a:r>
            <a:r>
              <a:rPr lang="es-CO" sz="2800" b="1" dirty="0"/>
              <a:t>Protocolos y servicios evaluados:</a:t>
            </a:r>
            <a:r>
              <a:rPr lang="es-CO" sz="2800" dirty="0"/>
              <a:t> VLAN, QoS, VPN/IPSec, OSPF/Static Routing, failover automático, priorización de tráfico crítico y monitoreo SNMP.</a:t>
            </a:r>
            <a:endParaRPr lang="es-CO" sz="2600" noProof="0" dirty="0"/>
          </a:p>
        </p:txBody>
      </p:sp>
      <p:sp>
        <p:nvSpPr>
          <p:cNvPr id="65" name="Shape 63"/>
          <p:cNvSpPr/>
          <p:nvPr/>
        </p:nvSpPr>
        <p:spPr>
          <a:xfrm>
            <a:off x="20275296" y="4572000"/>
            <a:ext cx="9360408" cy="777148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66" name="Shape 64"/>
          <p:cNvSpPr/>
          <p:nvPr/>
        </p:nvSpPr>
        <p:spPr>
          <a:xfrm>
            <a:off x="20275296" y="4572000"/>
            <a:ext cx="9360408" cy="5303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67" name="Text 65"/>
          <p:cNvSpPr/>
          <p:nvPr/>
        </p:nvSpPr>
        <p:spPr>
          <a:xfrm>
            <a:off x="20503896" y="4645152"/>
            <a:ext cx="8903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6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12. Resultados adicionales</a:t>
            </a:r>
            <a:endParaRPr lang="es-CO" sz="3600" noProof="0" dirty="0"/>
          </a:p>
        </p:txBody>
      </p:sp>
      <p:sp>
        <p:nvSpPr>
          <p:cNvPr id="68" name="Text 66"/>
          <p:cNvSpPr/>
          <p:nvPr/>
        </p:nvSpPr>
        <p:spPr>
          <a:xfrm>
            <a:off x="20503896" y="5212080"/>
            <a:ext cx="8903208" cy="1825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2000"/>
              </a:lnSpc>
              <a:buSzPct val="100000"/>
              <a:buChar char="•"/>
            </a:pPr>
            <a:r>
              <a:rPr lang="es-CO" sz="2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Tabla de </a:t>
            </a:r>
            <a:r>
              <a:rPr lang="es-CO" sz="2600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ablation</a:t>
            </a:r>
            <a:r>
              <a:rPr lang="es-CO" sz="2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/ sensibilidad (parámetros críticos).</a:t>
            </a:r>
            <a:endParaRPr lang="es-CO" sz="2600" noProof="0" dirty="0"/>
          </a:p>
          <a:p>
            <a:pPr marL="279400" indent="-279400">
              <a:lnSpc>
                <a:spcPct val="112000"/>
              </a:lnSpc>
              <a:buSzPct val="100000"/>
              <a:buChar char="•"/>
            </a:pPr>
            <a:r>
              <a:rPr lang="es-CO" sz="2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Rendimiento: consumo, latencia, cobertura, BER, throughput, etc.</a:t>
            </a:r>
            <a:endParaRPr lang="es-CO" sz="2600" noProof="0" dirty="0"/>
          </a:p>
          <a:p>
            <a:pPr marL="279400" indent="-279400">
              <a:lnSpc>
                <a:spcPct val="112000"/>
              </a:lnSpc>
              <a:buSzPct val="100000"/>
              <a:buChar char="•"/>
            </a:pPr>
            <a:r>
              <a:rPr lang="es-CO" sz="2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Robustez: interferencia, distancia, movilidad, clima, ruido.</a:t>
            </a:r>
            <a:endParaRPr lang="es-CO" sz="2600" noProof="0" dirty="0"/>
          </a:p>
        </p:txBody>
      </p:sp>
      <p:sp>
        <p:nvSpPr>
          <p:cNvPr id="69" name="Shape 67"/>
          <p:cNvSpPr/>
          <p:nvPr/>
        </p:nvSpPr>
        <p:spPr>
          <a:xfrm>
            <a:off x="20503896" y="7174876"/>
            <a:ext cx="8903208" cy="5058881"/>
          </a:xfrm>
          <a:prstGeom prst="rect">
            <a:avLst/>
          </a:prstGeom>
          <a:solidFill>
            <a:srgbClr val="F9FAFB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70" name="Text 68"/>
          <p:cNvSpPr/>
          <p:nvPr/>
        </p:nvSpPr>
        <p:spPr>
          <a:xfrm>
            <a:off x="20641056" y="7357756"/>
            <a:ext cx="8628888" cy="46931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O" sz="22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TABLA/GRÁFICA 2 (idealmente complementaria a la principal).</a:t>
            </a:r>
            <a:endParaRPr lang="es-CO" sz="2200" noProof="0" dirty="0"/>
          </a:p>
        </p:txBody>
      </p:sp>
      <p:sp>
        <p:nvSpPr>
          <p:cNvPr id="71" name="Shape 69"/>
          <p:cNvSpPr/>
          <p:nvPr/>
        </p:nvSpPr>
        <p:spPr>
          <a:xfrm>
            <a:off x="20275296" y="12572086"/>
            <a:ext cx="9360408" cy="6475781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72" name="Shape 70"/>
          <p:cNvSpPr/>
          <p:nvPr/>
        </p:nvSpPr>
        <p:spPr>
          <a:xfrm>
            <a:off x="20275296" y="12572086"/>
            <a:ext cx="9360408" cy="530352"/>
          </a:xfrm>
          <a:prstGeom prst="rect">
            <a:avLst/>
          </a:prstGeom>
          <a:solidFill>
            <a:srgbClr val="92D050"/>
          </a:solidFill>
          <a:ln w="12700">
            <a:solidFill>
              <a:srgbClr val="92D05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73" name="Text 71"/>
          <p:cNvSpPr/>
          <p:nvPr/>
        </p:nvSpPr>
        <p:spPr>
          <a:xfrm>
            <a:off x="20503896" y="12645238"/>
            <a:ext cx="8903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6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13. Discusión y amenazas a la validez</a:t>
            </a:r>
            <a:endParaRPr lang="es-CO" sz="3600" noProof="0" dirty="0"/>
          </a:p>
        </p:txBody>
      </p:sp>
      <p:sp>
        <p:nvSpPr>
          <p:cNvPr id="74" name="Text 72"/>
          <p:cNvSpPr/>
          <p:nvPr/>
        </p:nvSpPr>
        <p:spPr>
          <a:xfrm>
            <a:off x="20503896" y="13212166"/>
            <a:ext cx="8903208" cy="57259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s-MX" sz="2800" b="1" dirty="0"/>
              <a:t>Qué funcionó ?</a:t>
            </a:r>
          </a:p>
          <a:p>
            <a:r>
              <a:rPr lang="es-MX" sz="2800" dirty="0"/>
              <a:t>- La arquitectura híbrida mejora continuidad y desempeño.</a:t>
            </a:r>
          </a:p>
          <a:p>
            <a:r>
              <a:rPr lang="es-MX" sz="2800" b="1" dirty="0"/>
              <a:t>Limitaciones</a:t>
            </a:r>
          </a:p>
          <a:p>
            <a:r>
              <a:rPr lang="es-MX" sz="2800" dirty="0"/>
              <a:t>- No hubo implementación física.</a:t>
            </a:r>
          </a:p>
          <a:p>
            <a:r>
              <a:rPr lang="es-MX" sz="2800" b="1" dirty="0"/>
              <a:t>Amenazas</a:t>
            </a:r>
          </a:p>
          <a:p>
            <a:r>
              <a:rPr lang="es-MX" sz="2800" dirty="0"/>
              <a:t>- Costos reales, permisos, infraestructura civil.</a:t>
            </a:r>
          </a:p>
          <a:p>
            <a:r>
              <a:rPr lang="es-MX" sz="2800" b="1" dirty="0"/>
              <a:t>Futuro</a:t>
            </a:r>
          </a:p>
          <a:p>
            <a:r>
              <a:rPr lang="es-MX" sz="2800" dirty="0"/>
              <a:t>- Integrar SD-WAN, monitoreo inteligente y segmentación avanzada.</a:t>
            </a:r>
          </a:p>
        </p:txBody>
      </p:sp>
      <p:sp>
        <p:nvSpPr>
          <p:cNvPr id="75" name="Shape 73"/>
          <p:cNvSpPr/>
          <p:nvPr/>
        </p:nvSpPr>
        <p:spPr>
          <a:xfrm>
            <a:off x="20275296" y="19276466"/>
            <a:ext cx="9360408" cy="518099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76" name="Shape 74"/>
          <p:cNvSpPr/>
          <p:nvPr/>
        </p:nvSpPr>
        <p:spPr>
          <a:xfrm>
            <a:off x="20275296" y="19276466"/>
            <a:ext cx="9360408" cy="5303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77" name="Text 75"/>
          <p:cNvSpPr/>
          <p:nvPr/>
        </p:nvSpPr>
        <p:spPr>
          <a:xfrm>
            <a:off x="20503896" y="19349618"/>
            <a:ext cx="8903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6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14. Conclusiones</a:t>
            </a:r>
            <a:endParaRPr lang="es-CO" sz="3600" noProof="0" dirty="0"/>
          </a:p>
        </p:txBody>
      </p:sp>
      <p:sp>
        <p:nvSpPr>
          <p:cNvPr id="78" name="Text 76"/>
          <p:cNvSpPr/>
          <p:nvPr/>
        </p:nvSpPr>
        <p:spPr>
          <a:xfrm>
            <a:off x="20503896" y="19916546"/>
            <a:ext cx="8903208" cy="44311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 algn="just">
              <a:lnSpc>
                <a:spcPct val="112000"/>
              </a:lnSpc>
              <a:buSzPct val="100000"/>
              <a:buChar char="•"/>
            </a:pPr>
            <a:r>
              <a:rPr lang="es-MX" sz="2800" dirty="0"/>
              <a:t>La arquitectura híbrida propuesta mejora significativamente la disponibilidad y continuidad operativa entre sedes. La incorporación de fibra óptica como backbone principal garantiza baja latencia y alta capacidad, mientras que el radioenlace aporta resiliencia ante fallos físicos. El análisis técnico demuestra que la solución es viable para soportar tráfico institucional crítico con mayor seguridad, estabilidad y eficiencia operativa.</a:t>
            </a:r>
            <a:endParaRPr lang="es-CO" sz="2600" noProof="0" dirty="0"/>
          </a:p>
        </p:txBody>
      </p:sp>
      <p:sp>
        <p:nvSpPr>
          <p:cNvPr id="79" name="Shape 77"/>
          <p:cNvSpPr/>
          <p:nvPr/>
        </p:nvSpPr>
        <p:spPr>
          <a:xfrm>
            <a:off x="20275296" y="24686057"/>
            <a:ext cx="9360408" cy="388528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80" name="Shape 78"/>
          <p:cNvSpPr/>
          <p:nvPr/>
        </p:nvSpPr>
        <p:spPr>
          <a:xfrm>
            <a:off x="20275296" y="24686057"/>
            <a:ext cx="9360408" cy="53035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81" name="Text 79"/>
          <p:cNvSpPr/>
          <p:nvPr/>
        </p:nvSpPr>
        <p:spPr>
          <a:xfrm>
            <a:off x="20503896" y="24759209"/>
            <a:ext cx="8903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6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15. Trabajo futuro</a:t>
            </a:r>
            <a:endParaRPr lang="es-CO" sz="3600" noProof="0" dirty="0"/>
          </a:p>
        </p:txBody>
      </p:sp>
      <p:sp>
        <p:nvSpPr>
          <p:cNvPr id="82" name="Text 80"/>
          <p:cNvSpPr/>
          <p:nvPr/>
        </p:nvSpPr>
        <p:spPr>
          <a:xfrm>
            <a:off x="20503896" y="25326137"/>
            <a:ext cx="8903208" cy="31354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 algn="just">
              <a:lnSpc>
                <a:spcPct val="112000"/>
              </a:lnSpc>
              <a:buSzPct val="100000"/>
              <a:buChar char="•"/>
            </a:pPr>
            <a:r>
              <a:rPr lang="es-MX" sz="2800" dirty="0"/>
              <a:t>Como trabajo futuro se propone incorporar balanceo dinámico de tráfico, integración SD-WAN, monitoreo inteligente basado en analítica de red y validación experimental mediante pruebas de campo sobre infraestructura real.</a:t>
            </a:r>
            <a:endParaRPr lang="es-CO" sz="2600" noProof="0" dirty="0"/>
          </a:p>
        </p:txBody>
      </p:sp>
      <p:sp>
        <p:nvSpPr>
          <p:cNvPr id="83" name="Shape 81"/>
          <p:cNvSpPr/>
          <p:nvPr/>
        </p:nvSpPr>
        <p:spPr>
          <a:xfrm>
            <a:off x="20275296" y="28799942"/>
            <a:ext cx="9360408" cy="474939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r>
              <a:rPr lang="es-CO" dirty="0"/>
              <a:t>[1] G. Keiser, </a:t>
            </a:r>
            <a:r>
              <a:rPr lang="es-CO" i="1" dirty="0"/>
              <a:t>Optical Fiber Communications</a:t>
            </a:r>
            <a:r>
              <a:rPr lang="es-CO" dirty="0"/>
              <a:t>, 6th ed. New York: McGraw-Hill, 2021.</a:t>
            </a:r>
          </a:p>
          <a:p>
            <a:endParaRPr lang="es-CO" dirty="0"/>
          </a:p>
          <a:p>
            <a:r>
              <a:rPr lang="es-CO" dirty="0"/>
              <a:t>[1] G. Keiser, </a:t>
            </a:r>
            <a:r>
              <a:rPr lang="es-CO" i="1" dirty="0"/>
              <a:t>Optical Fiber Communications</a:t>
            </a:r>
            <a:r>
              <a:rPr lang="es-CO" dirty="0"/>
              <a:t>, 6th ed. New York: McGraw-Hill, 2021.</a:t>
            </a:r>
          </a:p>
          <a:p>
            <a:r>
              <a:rPr lang="es-CO" dirty="0"/>
              <a:t>[2] A. S. Tanenbaum and D. J. Wetherall, </a:t>
            </a:r>
            <a:r>
              <a:rPr lang="es-CO" i="1" dirty="0"/>
              <a:t>Computer Networks</a:t>
            </a:r>
            <a:r>
              <a:rPr lang="es-CO" dirty="0"/>
              <a:t>, 5th ed. Boston: Pearson, 2011.</a:t>
            </a:r>
          </a:p>
          <a:p>
            <a:r>
              <a:rPr lang="es-CO" dirty="0"/>
              <a:t>[3] IEEE, </a:t>
            </a:r>
            <a:r>
              <a:rPr lang="es-CO" i="1" dirty="0"/>
              <a:t>IEEE Standard for Local and Metropolitan Area Networks</a:t>
            </a:r>
            <a:r>
              <a:rPr lang="es-CO" dirty="0"/>
              <a:t>, IEEE Standards Association, 2023.</a:t>
            </a:r>
          </a:p>
          <a:p>
            <a:r>
              <a:rPr lang="es-CO" dirty="0"/>
              <a:t>[4] Cisco Systems, </a:t>
            </a:r>
            <a:r>
              <a:rPr lang="es-CO" i="1" dirty="0"/>
              <a:t>Enterprise Campus Network Design Guide</a:t>
            </a:r>
            <a:r>
              <a:rPr lang="es-CO" dirty="0"/>
              <a:t>, Cisco Validated Designs, 2024.</a:t>
            </a:r>
          </a:p>
          <a:p>
            <a:r>
              <a:rPr lang="es-CO" dirty="0"/>
              <a:t>[5] Resilient Backhaul Network Design Using Hybrid Radio / Free-Space Optical Technology.</a:t>
            </a:r>
            <a:br>
              <a:rPr lang="es-CO" dirty="0"/>
            </a:br>
            <a:r>
              <a:rPr lang="es-CO" dirty="0"/>
              <a:t>Investigación enfocada en redundancia y resiliencia de backhaul híbrido. </a:t>
            </a:r>
          </a:p>
          <a:p>
            <a:r>
              <a:rPr lang="es-CO" dirty="0"/>
              <a:t>[6] Joint Hybrid Backhaul and Access Links Design in Cloud-Radio Access Networks.</a:t>
            </a:r>
            <a:br>
              <a:rPr lang="es-CO" dirty="0"/>
            </a:br>
            <a:r>
              <a:rPr lang="es-CO" dirty="0"/>
              <a:t>Diseño híbrido cableado + inalámbrico orientado a QoS y eficiencia.</a:t>
            </a:r>
          </a:p>
          <a:p>
            <a:r>
              <a:rPr lang="es-CO" dirty="0"/>
              <a:t>[7] Análisis de factibilidad para implementación de red híbrida radioenlace + GPON FTTH.</a:t>
            </a:r>
            <a:br>
              <a:rPr lang="es-CO" dirty="0"/>
            </a:br>
            <a:r>
              <a:rPr lang="es-CO" dirty="0"/>
              <a:t>Caso real de arquitectura híbrida. Muy útil para justificar tu propuesta. </a:t>
            </a:r>
          </a:p>
          <a:p>
            <a:r>
              <a:rPr lang="es-CO" dirty="0"/>
              <a:t>[8] Integración de redes ópticas e inalámbricas basadas en radio sobre fibra (</a:t>
            </a:r>
            <a:r>
              <a:rPr lang="es-CO" dirty="0" err="1"/>
              <a:t>RoF</a:t>
            </a:r>
            <a:r>
              <a:rPr lang="es-CO" dirty="0"/>
              <a:t>).</a:t>
            </a:r>
            <a:br>
              <a:rPr lang="es-CO" dirty="0"/>
            </a:br>
            <a:r>
              <a:rPr lang="es-CO" dirty="0"/>
              <a:t>Tesis doctoral completa. Excelente respaldo técnico. </a:t>
            </a:r>
          </a:p>
          <a:p>
            <a:r>
              <a:rPr lang="es-CO" dirty="0"/>
              <a:t>[9] Optical Wireless Hybrid Networks for 5G and </a:t>
            </a:r>
            <a:r>
              <a:rPr lang="es-CO" dirty="0" err="1"/>
              <a:t>Beyond</a:t>
            </a:r>
            <a:r>
              <a:rPr lang="es-CO" dirty="0"/>
              <a:t> Communications.</a:t>
            </a:r>
            <a:br>
              <a:rPr lang="es-CO" dirty="0"/>
            </a:br>
            <a:r>
              <a:rPr lang="es-CO" dirty="0"/>
              <a:t>Paper de revisión técnica sobre arquitecturas híbridas</a:t>
            </a:r>
          </a:p>
          <a:p>
            <a:endParaRPr lang="es-CO" dirty="0"/>
          </a:p>
          <a:p>
            <a:r>
              <a:rPr lang="es-CO" dirty="0"/>
              <a:t>.</a:t>
            </a:r>
          </a:p>
        </p:txBody>
      </p:sp>
      <p:sp>
        <p:nvSpPr>
          <p:cNvPr id="84" name="Shape 82"/>
          <p:cNvSpPr/>
          <p:nvPr/>
        </p:nvSpPr>
        <p:spPr>
          <a:xfrm>
            <a:off x="20275296" y="28799942"/>
            <a:ext cx="9360408" cy="5303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85" name="Text 83"/>
          <p:cNvSpPr/>
          <p:nvPr/>
        </p:nvSpPr>
        <p:spPr>
          <a:xfrm>
            <a:off x="20503896" y="28873094"/>
            <a:ext cx="8903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6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16. Referencias y repositorio</a:t>
            </a:r>
            <a:endParaRPr lang="es-CO" sz="3600" noProof="0" dirty="0"/>
          </a:p>
        </p:txBody>
      </p:sp>
      <p:sp>
        <p:nvSpPr>
          <p:cNvPr id="86" name="Text 84"/>
          <p:cNvSpPr/>
          <p:nvPr/>
        </p:nvSpPr>
        <p:spPr>
          <a:xfrm>
            <a:off x="20503896" y="29440022"/>
            <a:ext cx="8903208" cy="1439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  <a:buSzPct val="100000"/>
            </a:pPr>
            <a:endParaRPr lang="es-CO" sz="2600" noProof="0" dirty="0"/>
          </a:p>
        </p:txBody>
      </p:sp>
      <p:sp>
        <p:nvSpPr>
          <p:cNvPr id="88" name="Text 86"/>
          <p:cNvSpPr/>
          <p:nvPr/>
        </p:nvSpPr>
        <p:spPr>
          <a:xfrm>
            <a:off x="20275297" y="29440023"/>
            <a:ext cx="9359836" cy="4059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O" sz="22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O" sz="2200" noProof="0" dirty="0"/>
          </a:p>
        </p:txBody>
      </p:sp>
      <p:sp>
        <p:nvSpPr>
          <p:cNvPr id="89" name="Shape 87"/>
          <p:cNvSpPr/>
          <p:nvPr/>
        </p:nvSpPr>
        <p:spPr>
          <a:xfrm>
            <a:off x="20275296" y="33777936"/>
            <a:ext cx="9360408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90" name="Shape 88"/>
          <p:cNvSpPr/>
          <p:nvPr/>
        </p:nvSpPr>
        <p:spPr>
          <a:xfrm>
            <a:off x="20275296" y="33777936"/>
            <a:ext cx="9360408" cy="5303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91" name="Text 89"/>
          <p:cNvSpPr/>
          <p:nvPr/>
        </p:nvSpPr>
        <p:spPr>
          <a:xfrm>
            <a:off x="20503896" y="33851088"/>
            <a:ext cx="8903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6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17. Lecciones aprendidas</a:t>
            </a:r>
            <a:endParaRPr lang="es-CO" sz="3600" noProof="0" dirty="0"/>
          </a:p>
        </p:txBody>
      </p:sp>
      <p:sp>
        <p:nvSpPr>
          <p:cNvPr id="92" name="Text 90"/>
          <p:cNvSpPr/>
          <p:nvPr/>
        </p:nvSpPr>
        <p:spPr>
          <a:xfrm>
            <a:off x="20503896" y="34418016"/>
            <a:ext cx="8903208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 algn="just">
              <a:lnSpc>
                <a:spcPct val="112000"/>
              </a:lnSpc>
              <a:buSzPct val="100000"/>
              <a:buChar char="•"/>
            </a:pPr>
            <a:r>
              <a:rPr lang="es-MX" sz="2800" dirty="0"/>
              <a:t>El diseño de arquitecturas multisede requiere considerar no solo capacidad de transmisión, sino también redundancia, seguridad y continuidad operacional. La combinación de medios cableados e inalámbricos representa una estrategia eficiente para mitigar fallos y optimizar la disponibilidad de servicios críticos.</a:t>
            </a:r>
            <a:endParaRPr lang="es-CO" sz="2600" noProof="0" dirty="0"/>
          </a:p>
        </p:txBody>
      </p:sp>
      <p:sp>
        <p:nvSpPr>
          <p:cNvPr id="93" name="Shape 91"/>
          <p:cNvSpPr/>
          <p:nvPr/>
        </p:nvSpPr>
        <p:spPr>
          <a:xfrm>
            <a:off x="20275296" y="37719000"/>
            <a:ext cx="9360408" cy="3941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94" name="Shape 92"/>
          <p:cNvSpPr/>
          <p:nvPr/>
        </p:nvSpPr>
        <p:spPr>
          <a:xfrm>
            <a:off x="20275296" y="37719000"/>
            <a:ext cx="9360408" cy="53035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4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95" name="Text 93"/>
          <p:cNvSpPr/>
          <p:nvPr/>
        </p:nvSpPr>
        <p:spPr>
          <a:xfrm>
            <a:off x="20503896" y="37792152"/>
            <a:ext cx="8903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6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18. Contacto / Demo en vivo</a:t>
            </a:r>
            <a:endParaRPr lang="es-CO" sz="3600" noProof="0" dirty="0"/>
          </a:p>
        </p:txBody>
      </p:sp>
      <p:sp>
        <p:nvSpPr>
          <p:cNvPr id="96" name="Text 94"/>
          <p:cNvSpPr/>
          <p:nvPr/>
        </p:nvSpPr>
        <p:spPr>
          <a:xfrm>
            <a:off x="20503896" y="38359080"/>
            <a:ext cx="8903208" cy="38852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 algn="just">
              <a:lnSpc>
                <a:spcPct val="112000"/>
              </a:lnSpc>
              <a:buSzPct val="100000"/>
              <a:buChar char="•"/>
            </a:pPr>
            <a:r>
              <a:rPr lang="es-MX" sz="2700" dirty="0"/>
              <a:t>Diseño y evaluación de una arquitectura de interconexión segura entre sedes institucionales.</a:t>
            </a:r>
            <a:endParaRPr lang="es-CO" sz="27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79400" indent="-279400" algn="just">
              <a:lnSpc>
                <a:spcPct val="112000"/>
              </a:lnSpc>
              <a:buSzPct val="100000"/>
              <a:buChar char="•"/>
            </a:pPr>
            <a:r>
              <a:rPr lang="es-MX" sz="2700" dirty="0"/>
              <a:t>Requerimientos para demo: equipo portátil, acceso a        simulador de red, alimentación eléctrica y proyección visual.</a:t>
            </a:r>
          </a:p>
          <a:p>
            <a:pPr marL="279400" indent="-279400" algn="just">
              <a:lnSpc>
                <a:spcPct val="112000"/>
              </a:lnSpc>
              <a:buSzPct val="100000"/>
              <a:buChar char="•"/>
            </a:pPr>
            <a:r>
              <a:rPr lang="es-MX" sz="2700" dirty="0"/>
              <a:t>Modalidad: exposición técnica con visualización de topología, pruebas de tráfico y análisis comparativo de resultados.</a:t>
            </a:r>
            <a:endParaRPr lang="es-CO" sz="2700" noProof="0" dirty="0"/>
          </a:p>
          <a:p>
            <a:pPr marL="279400" indent="-279400">
              <a:lnSpc>
                <a:spcPct val="112000"/>
              </a:lnSpc>
              <a:buSzPct val="100000"/>
              <a:buChar char="•"/>
            </a:pPr>
            <a:endParaRPr lang="es-CO" sz="2600" noProof="0" dirty="0"/>
          </a:p>
        </p:txBody>
      </p:sp>
      <p:sp>
        <p:nvSpPr>
          <p:cNvPr id="97" name="Text 95"/>
          <p:cNvSpPr/>
          <p:nvPr/>
        </p:nvSpPr>
        <p:spPr>
          <a:xfrm>
            <a:off x="640080" y="41660064"/>
            <a:ext cx="28995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20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Reglas duras: (i) mínimo 2 resultados cuantitativos, (ii) </a:t>
            </a:r>
            <a:r>
              <a:rPr lang="es-CO" sz="2000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r>
              <a:rPr lang="es-CO" sz="20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/referencia explícita, (iii) protocolo replicable, (</a:t>
            </a:r>
            <a:r>
              <a:rPr lang="es-CO" sz="2000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r>
              <a:rPr lang="es-CO" sz="20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 QR/repositorio con commit reproducible.</a:t>
            </a:r>
            <a:endParaRPr lang="es-CO" sz="2000" noProof="0" dirty="0"/>
          </a:p>
        </p:txBody>
      </p:sp>
      <p:pic>
        <p:nvPicPr>
          <p:cNvPr id="1028" name="Picture 4" descr="Fundación Universitaria Compensar | ACOFI | Asociación Colombiana de  Facultades de Ingeniería">
            <a:extLst>
              <a:ext uri="{FF2B5EF4-FFF2-40B4-BE49-F238E27FC236}">
                <a16:creationId xmlns:a16="http://schemas.microsoft.com/office/drawing/2014/main" id="{A8FC8B61-0250-8604-DE57-0D608B9C9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" y="749329"/>
            <a:ext cx="3594071" cy="359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Imagen 100">
            <a:extLst>
              <a:ext uri="{FF2B5EF4-FFF2-40B4-BE49-F238E27FC236}">
                <a16:creationId xmlns:a16="http://schemas.microsoft.com/office/drawing/2014/main" id="{762164C2-04E4-DE73-4252-1111DFAFE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760" y="18685978"/>
            <a:ext cx="9360979" cy="5397489"/>
          </a:xfrm>
          <a:prstGeom prst="rect">
            <a:avLst/>
          </a:prstGeom>
        </p:spPr>
      </p:pic>
      <p:pic>
        <p:nvPicPr>
          <p:cNvPr id="103" name="Imagen 102">
            <a:extLst>
              <a:ext uri="{FF2B5EF4-FFF2-40B4-BE49-F238E27FC236}">
                <a16:creationId xmlns:a16="http://schemas.microsoft.com/office/drawing/2014/main" id="{E28317E2-BC73-0BD4-0FB6-A1D778EE40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6288" y="5392216"/>
            <a:ext cx="8903208" cy="7710090"/>
          </a:xfrm>
          <a:prstGeom prst="rect">
            <a:avLst/>
          </a:prstGeom>
        </p:spPr>
      </p:pic>
      <p:pic>
        <p:nvPicPr>
          <p:cNvPr id="105" name="Imagen 104">
            <a:extLst>
              <a:ext uri="{FF2B5EF4-FFF2-40B4-BE49-F238E27FC236}">
                <a16:creationId xmlns:a16="http://schemas.microsoft.com/office/drawing/2014/main" id="{40AF043E-825C-2E81-F4F3-3B6FC24222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7402" y="17297943"/>
            <a:ext cx="9360408" cy="3271700"/>
          </a:xfrm>
          <a:prstGeom prst="rect">
            <a:avLst/>
          </a:prstGeom>
        </p:spPr>
      </p:pic>
      <p:pic>
        <p:nvPicPr>
          <p:cNvPr id="107" name="Imagen 106">
            <a:extLst>
              <a:ext uri="{FF2B5EF4-FFF2-40B4-BE49-F238E27FC236}">
                <a16:creationId xmlns:a16="http://schemas.microsoft.com/office/drawing/2014/main" id="{15868994-618C-304B-4A0C-79803F0459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03896" y="5298538"/>
            <a:ext cx="9131808" cy="3262990"/>
          </a:xfrm>
          <a:prstGeom prst="rect">
            <a:avLst/>
          </a:prstGeom>
        </p:spPr>
      </p:pic>
      <p:pic>
        <p:nvPicPr>
          <p:cNvPr id="111" name="Imagen 110">
            <a:extLst>
              <a:ext uri="{FF2B5EF4-FFF2-40B4-BE49-F238E27FC236}">
                <a16:creationId xmlns:a16="http://schemas.microsoft.com/office/drawing/2014/main" id="{BFFF7FE0-C2A0-DB09-E054-EB6E456CB9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21800" y="8727808"/>
            <a:ext cx="5219699" cy="3615678"/>
          </a:xfrm>
          <a:prstGeom prst="rect">
            <a:avLst/>
          </a:prstGeom>
        </p:spPr>
      </p:pic>
      <p:pic>
        <p:nvPicPr>
          <p:cNvPr id="113" name="Imagen 112">
            <a:extLst>
              <a:ext uri="{FF2B5EF4-FFF2-40B4-BE49-F238E27FC236}">
                <a16:creationId xmlns:a16="http://schemas.microsoft.com/office/drawing/2014/main" id="{65CD39D9-E254-4B3D-2250-545CA0CB42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42833" y="26887932"/>
            <a:ext cx="9290195" cy="3249168"/>
          </a:xfrm>
          <a:prstGeom prst="rect">
            <a:avLst/>
          </a:prstGeom>
        </p:spPr>
      </p:pic>
      <p:pic>
        <p:nvPicPr>
          <p:cNvPr id="116" name="Imagen 115">
            <a:extLst>
              <a:ext uri="{FF2B5EF4-FFF2-40B4-BE49-F238E27FC236}">
                <a16:creationId xmlns:a16="http://schemas.microsoft.com/office/drawing/2014/main" id="{4FE76475-DE6C-1C03-A93D-0E2C1A25F1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17708" y="29926971"/>
            <a:ext cx="8628888" cy="552248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12CC789-19F0-E78A-5B87-A98FB572E9B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3448" y="14112850"/>
            <a:ext cx="3387204" cy="311847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287DEAA-B0D9-3492-2A47-A37646E81B5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692998" y="14164208"/>
            <a:ext cx="4553598" cy="30752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289956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6400" b="1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r>
              <a:rPr lang="es-CO" sz="64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rápido (para entregar un póster “data‑</a:t>
            </a:r>
            <a:r>
              <a:rPr lang="es-CO" sz="6400" b="1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</a:t>
            </a:r>
            <a:r>
              <a:rPr lang="es-CO" sz="64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”)</a:t>
            </a:r>
            <a:endParaRPr lang="es-CO" sz="6400" noProof="0" dirty="0"/>
          </a:p>
        </p:txBody>
      </p:sp>
      <p:sp>
        <p:nvSpPr>
          <p:cNvPr id="3" name="Shape 1"/>
          <p:cNvSpPr/>
          <p:nvPr/>
        </p:nvSpPr>
        <p:spPr>
          <a:xfrm>
            <a:off x="1681316" y="2011680"/>
            <a:ext cx="25839174" cy="40552166"/>
          </a:xfrm>
          <a:prstGeom prst="rect">
            <a:avLst/>
          </a:prstGeom>
          <a:solidFill>
            <a:srgbClr val="F9FAFB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pPr marL="381000" indent="-381000">
              <a:lnSpc>
                <a:spcPct val="115000"/>
              </a:lnSpc>
              <a:buSzPct val="100000"/>
              <a:buChar char="•"/>
            </a:pPr>
            <a:r>
              <a:rPr lang="es-MX" sz="3200" dirty="0"/>
              <a:t>Diseño y evaluación de una arquitectura híbrida de interconexión segura entre sedes institucionales con disponibilidad.</a:t>
            </a:r>
          </a:p>
          <a:p>
            <a:pPr algn="just">
              <a:lnSpc>
                <a:spcPct val="115000"/>
              </a:lnSpc>
              <a:buSzPct val="100000"/>
            </a:pPr>
            <a:r>
              <a:rPr lang="es-MX" sz="3200" dirty="0"/>
              <a:t>Problema con evidencia: La comunicación entre sedes institucionales soportada sobre infraestructura pública presenta latencias promedio cercanas a 40 ms, jitter de 20 ms, disponibilidad aproximada de 95% y dependencia operativa del ISP. Estas condiciones afectan servicios sensibles al retardo como VoIP, autenticación centralizada, videovigilancia y acceso a servidores internos, limitando la continuidad operacional y la gestión centralizada de la red.</a:t>
            </a:r>
            <a:endParaRPr lang="es-CO" sz="3200" dirty="0"/>
          </a:p>
          <a:p>
            <a:pPr>
              <a:lnSpc>
                <a:spcPct val="115000"/>
              </a:lnSpc>
              <a:buSzPct val="100000"/>
            </a:pPr>
            <a:r>
              <a:rPr lang="es-MX" sz="3200" b="1" dirty="0"/>
              <a:t>Objetivos Verificables</a:t>
            </a:r>
          </a:p>
          <a:p>
            <a:pPr marL="571500" indent="-571500">
              <a:lnSpc>
                <a:spcPct val="115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MX" sz="3200" dirty="0"/>
              <a:t>Analizar requerimientos de tráfico institucional.</a:t>
            </a:r>
          </a:p>
          <a:p>
            <a:pPr marL="571500" indent="-571500">
              <a:lnSpc>
                <a:spcPct val="115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MX" sz="3200" dirty="0"/>
              <a:t> Diseñar topología híbrida con redundancia.</a:t>
            </a:r>
          </a:p>
          <a:p>
            <a:pPr marL="571500" indent="-571500">
              <a:lnSpc>
                <a:spcPct val="115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MX" sz="3200" dirty="0"/>
              <a:t>Simular y medir KPIs de red.</a:t>
            </a:r>
          </a:p>
          <a:p>
            <a:pPr marL="571500" indent="-571500">
              <a:lnSpc>
                <a:spcPct val="115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MX" sz="3200" dirty="0"/>
              <a:t>Comparar desempeño frente al escenario actual.</a:t>
            </a:r>
            <a:endParaRPr lang="es-CO" sz="32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  <a:buSzPct val="100000"/>
            </a:pPr>
            <a:endParaRPr lang="es-CO" sz="3200" dirty="0"/>
          </a:p>
          <a:p>
            <a:pPr marL="457200" indent="-457200">
              <a:lnSpc>
                <a:spcPct val="115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CO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replicable</a:t>
            </a:r>
          </a:p>
          <a:p>
            <a:r>
              <a:rPr lang="es-CO" sz="3200" b="1" dirty="0"/>
              <a:t>Versiones:</a:t>
            </a:r>
          </a:p>
          <a:p>
            <a:r>
              <a:rPr lang="es-CO" sz="3200" dirty="0"/>
              <a:t>Cisco Packet Tracer 8.x </a:t>
            </a:r>
          </a:p>
          <a:p>
            <a:r>
              <a:rPr lang="es-CO" sz="3200" dirty="0"/>
              <a:t>GNS3 2.x </a:t>
            </a:r>
          </a:p>
          <a:p>
            <a:r>
              <a:rPr lang="es-CO" sz="3200" dirty="0"/>
              <a:t>Microsoft Visio </a:t>
            </a:r>
          </a:p>
          <a:p>
            <a:r>
              <a:rPr lang="es-CO" sz="3200" b="1" dirty="0"/>
              <a:t>Parámetros:</a:t>
            </a:r>
          </a:p>
          <a:p>
            <a:r>
              <a:rPr lang="es-CO" sz="3200" dirty="0"/>
              <a:t>tráfico VoIP </a:t>
            </a:r>
          </a:p>
          <a:p>
            <a:r>
              <a:rPr lang="es-CO" sz="3200" dirty="0"/>
              <a:t>tráfico de datos </a:t>
            </a:r>
          </a:p>
          <a:p>
            <a:r>
              <a:rPr lang="es-CO" sz="3200" dirty="0"/>
              <a:t>videoconferencia </a:t>
            </a:r>
          </a:p>
          <a:p>
            <a:r>
              <a:rPr lang="es-CO" sz="3200" dirty="0"/>
              <a:t>carga media/alta </a:t>
            </a:r>
          </a:p>
          <a:p>
            <a:r>
              <a:rPr lang="es-CO" sz="3200" dirty="0"/>
              <a:t>failover simulado</a:t>
            </a:r>
          </a:p>
          <a:p>
            <a:endParaRPr lang="es-CO" sz="3200" dirty="0"/>
          </a:p>
          <a:p>
            <a:pPr marL="381000" indent="-381000">
              <a:lnSpc>
                <a:spcPct val="115000"/>
              </a:lnSpc>
              <a:buSzPct val="100000"/>
              <a:buChar char="•"/>
            </a:pPr>
            <a:r>
              <a:rPr lang="es-CO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Arquitectura/diagrama</a:t>
            </a:r>
          </a:p>
          <a:p>
            <a:pPr>
              <a:lnSpc>
                <a:spcPct val="115000"/>
              </a:lnSpc>
              <a:buSzPct val="100000"/>
            </a:pPr>
            <a:r>
              <a:rPr lang="es-CO" sz="3200" dirty="0"/>
              <a:t>Fibra óptica = enlace principal</a:t>
            </a:r>
            <a:br>
              <a:rPr lang="es-CO" sz="3200" dirty="0"/>
            </a:br>
            <a:r>
              <a:rPr lang="es-CO" sz="3200" dirty="0"/>
              <a:t>🟢 Radioenlace = enlace de respaldo</a:t>
            </a:r>
            <a:br>
              <a:rPr lang="es-CO" sz="3200" dirty="0"/>
            </a:br>
            <a:r>
              <a:rPr lang="es-CO" sz="3200" dirty="0"/>
              <a:t>🟠 VLAN = segmentación de servicios</a:t>
            </a:r>
            <a:br>
              <a:rPr lang="es-CO" sz="3200" dirty="0"/>
            </a:br>
            <a:r>
              <a:rPr lang="es-CO" sz="3200" dirty="0"/>
              <a:t>🔴 Firewall = seguridad perimetral</a:t>
            </a:r>
            <a:br>
              <a:rPr lang="es-CO" sz="3200" dirty="0"/>
            </a:br>
            <a:r>
              <a:rPr lang="es-CO" sz="3200" dirty="0"/>
              <a:t>⚫ Core Switch = distribución principal</a:t>
            </a:r>
          </a:p>
          <a:p>
            <a:pPr>
              <a:lnSpc>
                <a:spcPct val="115000"/>
              </a:lnSpc>
              <a:buSzPct val="100000"/>
            </a:pPr>
            <a:r>
              <a:rPr lang="es-CO" sz="3200" dirty="0"/>
              <a:t>🟢 Dependencia MPLS para los servicios</a:t>
            </a:r>
          </a:p>
          <a:p>
            <a:pPr>
              <a:lnSpc>
                <a:spcPct val="115000"/>
              </a:lnSpc>
              <a:buSzPct val="100000"/>
            </a:pPr>
            <a:endParaRPr lang="es-CO" sz="3200" dirty="0"/>
          </a:p>
          <a:p>
            <a:pPr>
              <a:lnSpc>
                <a:spcPct val="115000"/>
              </a:lnSpc>
              <a:buSzPct val="100000"/>
            </a:pPr>
            <a:endParaRPr lang="es-CO" sz="3200" dirty="0"/>
          </a:p>
          <a:p>
            <a:pPr>
              <a:lnSpc>
                <a:spcPct val="115000"/>
              </a:lnSpc>
              <a:buSzPct val="100000"/>
            </a:pPr>
            <a:endParaRPr lang="es-CO" sz="3200" dirty="0"/>
          </a:p>
          <a:p>
            <a:pPr>
              <a:lnSpc>
                <a:spcPct val="115000"/>
              </a:lnSpc>
              <a:buSzPct val="100000"/>
            </a:pPr>
            <a:endParaRPr lang="es-CO" sz="3200" dirty="0"/>
          </a:p>
          <a:p>
            <a:pPr>
              <a:lnSpc>
                <a:spcPct val="115000"/>
              </a:lnSpc>
              <a:buSzPct val="100000"/>
            </a:pPr>
            <a:endParaRPr lang="es-CO" sz="3200" dirty="0"/>
          </a:p>
          <a:p>
            <a:pPr marL="381000" indent="-381000">
              <a:lnSpc>
                <a:spcPct val="115000"/>
              </a:lnSpc>
              <a:buSzPct val="100000"/>
              <a:buChar char="•"/>
            </a:pPr>
            <a:r>
              <a:rPr lang="es-CO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de error </a:t>
            </a:r>
          </a:p>
          <a:p>
            <a:r>
              <a:rPr lang="es-MX" sz="3200" dirty="0"/>
              <a:t>Condición experimental:</a:t>
            </a:r>
            <a:br>
              <a:rPr lang="es-MX" sz="3200" dirty="0"/>
            </a:br>
            <a:r>
              <a:rPr lang="es-MX" sz="3200" dirty="0"/>
              <a:t>n = 10 pruebas por escenario</a:t>
            </a:r>
          </a:p>
          <a:p>
            <a:r>
              <a:rPr lang="es-MX" sz="3200" dirty="0"/>
              <a:t>Ejemplo:</a:t>
            </a:r>
            <a:br>
              <a:rPr lang="es-MX" sz="3200" dirty="0"/>
            </a:br>
            <a:r>
              <a:rPr lang="es-MX" sz="3200" dirty="0"/>
              <a:t>Latencia = 6 ± 1.2 ms</a:t>
            </a:r>
            <a:br>
              <a:rPr lang="es-MX" sz="3200" dirty="0"/>
            </a:br>
            <a:r>
              <a:rPr lang="es-MX" sz="3200" dirty="0"/>
              <a:t>Jitter = 3 ± 0.8 ms</a:t>
            </a:r>
          </a:p>
          <a:p>
            <a:r>
              <a:rPr lang="es-MX" sz="3200" dirty="0"/>
              <a:t>Explicación:</a:t>
            </a:r>
            <a:br>
              <a:rPr lang="es-MX" sz="3200" dirty="0"/>
            </a:br>
            <a:r>
              <a:rPr lang="es-MX" sz="3200" dirty="0"/>
              <a:t>La variabilidad observada responde a cambios en carga de tráfico, rutas de conmutación y condiciones de enlace en los escenarios simulados.</a:t>
            </a:r>
          </a:p>
          <a:p>
            <a:pPr>
              <a:lnSpc>
                <a:spcPct val="115000"/>
              </a:lnSpc>
              <a:buSzPct val="100000"/>
            </a:pPr>
            <a:endParaRPr lang="es-CO" sz="32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81000" indent="-381000">
              <a:lnSpc>
                <a:spcPct val="115000"/>
              </a:lnSpc>
              <a:buSzPct val="100000"/>
              <a:buChar char="•"/>
            </a:pPr>
            <a:r>
              <a:rPr lang="es-CO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Discusión crítica</a:t>
            </a:r>
          </a:p>
          <a:p>
            <a:r>
              <a:rPr lang="es-MX" sz="3200" b="1" dirty="0"/>
              <a:t>Limitaciones: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s-MX" sz="3200" dirty="0"/>
              <a:t>no hubo implementación física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s-MX" sz="3200" dirty="0"/>
              <a:t>costos reales pueden variar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s-MX" sz="3200" dirty="0"/>
              <a:t>canal inalámbrico sensible a clima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s-MX" sz="3200" dirty="0"/>
              <a:t>simulación ≠ entorno operativo real </a:t>
            </a:r>
          </a:p>
          <a:p>
            <a:r>
              <a:rPr lang="es-MX" sz="3200" b="1" dirty="0"/>
              <a:t>Amenazas a validez: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s-MX" sz="3200" dirty="0"/>
              <a:t>topología simplificada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s-MX" sz="3200" dirty="0"/>
              <a:t>muestra experimental limitada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s-MX" sz="3200" dirty="0"/>
              <a:t>supuestos de tráfico controlado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s-MX" sz="3200" dirty="0"/>
              <a:t>no se evaluó interferencia RF real</a:t>
            </a:r>
          </a:p>
          <a:p>
            <a:pPr>
              <a:lnSpc>
                <a:spcPct val="115000"/>
              </a:lnSpc>
              <a:buSzPct val="100000"/>
            </a:pPr>
            <a:endParaRPr lang="es-CO" sz="3200" b="1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81000" indent="-381000">
              <a:lnSpc>
                <a:spcPct val="115000"/>
              </a:lnSpc>
              <a:buSzPct val="100000"/>
              <a:buChar char="•"/>
            </a:pPr>
            <a:r>
              <a:rPr lang="es-CO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a repositorio/demo + commit/tag</a:t>
            </a:r>
          </a:p>
          <a:p>
            <a:pPr>
              <a:lnSpc>
                <a:spcPct val="115000"/>
              </a:lnSpc>
              <a:buSzPct val="100000"/>
            </a:pPr>
            <a:r>
              <a:rPr lang="es-CO" sz="2400" dirty="0"/>
              <a:t>/docs</a:t>
            </a:r>
          </a:p>
          <a:p>
            <a:pPr>
              <a:lnSpc>
                <a:spcPct val="115000"/>
              </a:lnSpc>
              <a:buSzPct val="100000"/>
            </a:pPr>
            <a:r>
              <a:rPr lang="es-CO" sz="2400" dirty="0"/>
              <a:t>   informe_tecnico.pdf</a:t>
            </a:r>
          </a:p>
          <a:p>
            <a:pPr>
              <a:lnSpc>
                <a:spcPct val="115000"/>
              </a:lnSpc>
              <a:buSzPct val="100000"/>
            </a:pPr>
            <a:r>
              <a:rPr lang="es-CO" sz="2400" dirty="0"/>
              <a:t>   metodologia.pdf</a:t>
            </a:r>
          </a:p>
          <a:p>
            <a:pPr>
              <a:lnSpc>
                <a:spcPct val="115000"/>
              </a:lnSpc>
              <a:buSzPct val="100000"/>
            </a:pPr>
            <a:r>
              <a:rPr lang="es-CO" sz="2400" dirty="0"/>
              <a:t>   estado_del_arte.pdf</a:t>
            </a:r>
          </a:p>
          <a:p>
            <a:pPr>
              <a:lnSpc>
                <a:spcPct val="115000"/>
              </a:lnSpc>
              <a:buSzPct val="100000"/>
            </a:pPr>
            <a:endParaRPr lang="es-CO" sz="2400" dirty="0"/>
          </a:p>
          <a:p>
            <a:pPr>
              <a:lnSpc>
                <a:spcPct val="115000"/>
              </a:lnSpc>
              <a:buSzPct val="100000"/>
            </a:pPr>
            <a:r>
              <a:rPr lang="es-CO" sz="2400" dirty="0"/>
              <a:t>/design</a:t>
            </a:r>
          </a:p>
          <a:p>
            <a:pPr>
              <a:lnSpc>
                <a:spcPct val="115000"/>
              </a:lnSpc>
              <a:buSzPct val="100000"/>
            </a:pPr>
            <a:r>
              <a:rPr lang="es-CO" sz="2400" dirty="0"/>
              <a:t>   topologia_logica.vsdx</a:t>
            </a:r>
          </a:p>
          <a:p>
            <a:pPr>
              <a:lnSpc>
                <a:spcPct val="115000"/>
              </a:lnSpc>
              <a:buSzPct val="100000"/>
            </a:pPr>
            <a:r>
              <a:rPr lang="es-CO" sz="2400" dirty="0"/>
              <a:t>   topologia_fisica.vsdx</a:t>
            </a:r>
          </a:p>
          <a:p>
            <a:pPr>
              <a:lnSpc>
                <a:spcPct val="115000"/>
              </a:lnSpc>
              <a:buSzPct val="100000"/>
            </a:pPr>
            <a:r>
              <a:rPr lang="es-CO" sz="2400" dirty="0"/>
              <a:t>   arquitectura_hibrida.png</a:t>
            </a:r>
          </a:p>
          <a:p>
            <a:pPr>
              <a:lnSpc>
                <a:spcPct val="115000"/>
              </a:lnSpc>
              <a:buSzPct val="100000"/>
            </a:pPr>
            <a:endParaRPr lang="es-CO" sz="2400" dirty="0"/>
          </a:p>
          <a:p>
            <a:pPr>
              <a:lnSpc>
                <a:spcPct val="115000"/>
              </a:lnSpc>
              <a:buSzPct val="100000"/>
            </a:pPr>
            <a:r>
              <a:rPr lang="es-CO" sz="2400" dirty="0"/>
              <a:t>/simulation</a:t>
            </a:r>
          </a:p>
          <a:p>
            <a:pPr>
              <a:lnSpc>
                <a:spcPct val="115000"/>
              </a:lnSpc>
              <a:buSzPct val="100000"/>
            </a:pPr>
            <a:r>
              <a:rPr lang="es-CO" sz="2400" dirty="0"/>
              <a:t>   packet_tracer/</a:t>
            </a:r>
          </a:p>
          <a:p>
            <a:pPr>
              <a:lnSpc>
                <a:spcPct val="115000"/>
              </a:lnSpc>
              <a:buSzPct val="100000"/>
            </a:pPr>
            <a:r>
              <a:rPr lang="es-CO" sz="2400" dirty="0"/>
              <a:t>   gns3/</a:t>
            </a:r>
          </a:p>
          <a:p>
            <a:pPr>
              <a:lnSpc>
                <a:spcPct val="115000"/>
              </a:lnSpc>
              <a:buSzPct val="100000"/>
            </a:pPr>
            <a:r>
              <a:rPr lang="es-CO" sz="2400" dirty="0"/>
              <a:t>   escenarios_prueba/</a:t>
            </a:r>
          </a:p>
          <a:p>
            <a:pPr>
              <a:lnSpc>
                <a:spcPct val="115000"/>
              </a:lnSpc>
              <a:buSzPct val="100000"/>
            </a:pPr>
            <a:endParaRPr lang="es-CO" sz="2400" dirty="0"/>
          </a:p>
          <a:p>
            <a:pPr>
              <a:lnSpc>
                <a:spcPct val="115000"/>
              </a:lnSpc>
              <a:buSzPct val="100000"/>
            </a:pPr>
            <a:r>
              <a:rPr lang="es-CO" sz="2400" dirty="0"/>
              <a:t>/results</a:t>
            </a:r>
          </a:p>
          <a:p>
            <a:pPr>
              <a:lnSpc>
                <a:spcPct val="115000"/>
              </a:lnSpc>
              <a:buSzPct val="100000"/>
            </a:pPr>
            <a:r>
              <a:rPr lang="es-CO" sz="2400" dirty="0"/>
              <a:t>   latencia.csv</a:t>
            </a:r>
          </a:p>
          <a:p>
            <a:pPr>
              <a:lnSpc>
                <a:spcPct val="115000"/>
              </a:lnSpc>
              <a:buSzPct val="100000"/>
            </a:pPr>
            <a:r>
              <a:rPr lang="es-CO" sz="2400" dirty="0"/>
              <a:t>   jitter.csv</a:t>
            </a:r>
          </a:p>
          <a:p>
            <a:pPr>
              <a:lnSpc>
                <a:spcPct val="115000"/>
              </a:lnSpc>
              <a:buSzPct val="100000"/>
            </a:pPr>
            <a:r>
              <a:rPr lang="es-CO" sz="2400" dirty="0"/>
              <a:t>   throughput.csv</a:t>
            </a:r>
          </a:p>
          <a:p>
            <a:pPr>
              <a:lnSpc>
                <a:spcPct val="115000"/>
              </a:lnSpc>
              <a:buSzPct val="100000"/>
            </a:pPr>
            <a:r>
              <a:rPr lang="es-CO" sz="2400" dirty="0"/>
              <a:t>   disponibilidad.csv</a:t>
            </a:r>
          </a:p>
          <a:p>
            <a:pPr>
              <a:lnSpc>
                <a:spcPct val="115000"/>
              </a:lnSpc>
              <a:buSzPct val="100000"/>
            </a:pPr>
            <a:r>
              <a:rPr lang="es-CO" sz="2400" dirty="0"/>
              <a:t>   graficas/</a:t>
            </a:r>
          </a:p>
          <a:p>
            <a:pPr>
              <a:lnSpc>
                <a:spcPct val="115000"/>
              </a:lnSpc>
              <a:buSzPct val="100000"/>
            </a:pPr>
            <a:endParaRPr lang="es-CO" sz="2400" dirty="0"/>
          </a:p>
          <a:p>
            <a:pPr>
              <a:lnSpc>
                <a:spcPct val="115000"/>
              </a:lnSpc>
              <a:buSzPct val="100000"/>
            </a:pPr>
            <a:r>
              <a:rPr lang="es-CO" sz="2400" dirty="0"/>
              <a:t>/references</a:t>
            </a:r>
          </a:p>
          <a:p>
            <a:pPr>
              <a:lnSpc>
                <a:spcPct val="115000"/>
              </a:lnSpc>
              <a:buSzPct val="100000"/>
            </a:pPr>
            <a:r>
              <a:rPr lang="es-CO" sz="2400" dirty="0"/>
              <a:t>   papers/</a:t>
            </a:r>
          </a:p>
          <a:p>
            <a:pPr>
              <a:lnSpc>
                <a:spcPct val="115000"/>
              </a:lnSpc>
              <a:buSzPct val="100000"/>
            </a:pPr>
            <a:r>
              <a:rPr lang="es-CO" sz="2400" dirty="0"/>
              <a:t>   bibliografia_ieee.pdf</a:t>
            </a:r>
            <a:endParaRPr lang="es-CO" sz="2400" noProof="0" dirty="0"/>
          </a:p>
        </p:txBody>
      </p:sp>
      <p:sp>
        <p:nvSpPr>
          <p:cNvPr id="4" name="Text 2"/>
          <p:cNvSpPr/>
          <p:nvPr/>
        </p:nvSpPr>
        <p:spPr>
          <a:xfrm>
            <a:off x="1188720" y="3657600"/>
            <a:ext cx="27898344" cy="859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  <a:buSzPct val="100000"/>
            </a:pPr>
            <a:endParaRPr lang="es-CO" sz="4000" b="1" noProof="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39AF15A-F345-84B2-4326-7B4B875A1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251" y="16670594"/>
            <a:ext cx="12949084" cy="32142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466CB59952D8948A40C940080F80E59" ma:contentTypeVersion="11" ma:contentTypeDescription="Crear nuevo documento." ma:contentTypeScope="" ma:versionID="89944bc0da53e371f4efda2e38207c3f">
  <xsd:schema xmlns:xsd="http://www.w3.org/2001/XMLSchema" xmlns:xs="http://www.w3.org/2001/XMLSchema" xmlns:p="http://schemas.microsoft.com/office/2006/metadata/properties" xmlns:ns2="859729a3-8514-401c-83d8-1dce3d6478a4" xmlns:ns3="5db0c67f-6871-4e46-bda4-0964ea321edd" targetNamespace="http://schemas.microsoft.com/office/2006/metadata/properties" ma:root="true" ma:fieldsID="8acf9de6958297e498315b67c868f0be" ns2:_="" ns3:_="">
    <xsd:import namespace="859729a3-8514-401c-83d8-1dce3d6478a4"/>
    <xsd:import namespace="5db0c67f-6871-4e46-bda4-0964ea321e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729a3-8514-401c-83d8-1dce3d6478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1d21979f-4ff3-4765-882b-31f71102b2e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b0c67f-6871-4e46-bda4-0964ea321ed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5ccae517-3687-4765-9d63-571dc728a9e6}" ma:internalName="TaxCatchAll" ma:showField="CatchAllData" ma:web="5db0c67f-6871-4e46-bda4-0964ea321ed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9729a3-8514-401c-83d8-1dce3d6478a4">
      <Terms xmlns="http://schemas.microsoft.com/office/infopath/2007/PartnerControls"/>
    </lcf76f155ced4ddcb4097134ff3c332f>
    <TaxCatchAll xmlns="5db0c67f-6871-4e46-bda4-0964ea321edd" xsi:nil="true"/>
  </documentManagement>
</p:properties>
</file>

<file path=customXml/itemProps1.xml><?xml version="1.0" encoding="utf-8"?>
<ds:datastoreItem xmlns:ds="http://schemas.openxmlformats.org/officeDocument/2006/customXml" ds:itemID="{25B331C2-10E7-4CF0-95C2-466EFC1BDA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9729a3-8514-401c-83d8-1dce3d6478a4"/>
    <ds:schemaRef ds:uri="5db0c67f-6871-4e46-bda4-0964ea321ed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8624BE1-D2F9-433C-B321-9751DCD6B2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359C536-3650-4748-A73F-167A33C4807C}">
  <ds:schemaRefs>
    <ds:schemaRef ds:uri="http://schemas.microsoft.com/office/2006/metadata/properties"/>
    <ds:schemaRef ds:uri="http://schemas.microsoft.com/office/infopath/2007/PartnerControls"/>
    <ds:schemaRef ds:uri="859729a3-8514-401c-83d8-1dce3d6478a4"/>
    <ds:schemaRef ds:uri="5db0c67f-6871-4e46-bda4-0964ea321ed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1680</TotalTime>
  <Words>1678</Words>
  <Application>Microsoft Office PowerPoint</Application>
  <PresentationFormat>Personalizado</PresentationFormat>
  <Paragraphs>152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Wingdings</vt:lpstr>
      <vt:lpstr>Office Theme</vt:lpstr>
      <vt:lpstr>Presentación de PowerPoint</vt:lpstr>
      <vt:lpstr>Presentación de PowerPoint</vt:lpstr>
    </vt:vector>
  </TitlesOfParts>
  <Company>—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de póster — Semillero a Opción de Grado</dc:title>
  <dc:subject>Póster científico/tecnológico (A0 vertical)</dc:subject>
  <dc:creator>Plantilla semillero (ChatGPT)</dc:creator>
  <cp:lastModifiedBy>Juan Melquicedet Galindo Joya</cp:lastModifiedBy>
  <cp:revision>6</cp:revision>
  <dcterms:created xsi:type="dcterms:W3CDTF">2026-02-22T19:58:27Z</dcterms:created>
  <dcterms:modified xsi:type="dcterms:W3CDTF">2026-09-13T19:23:11Z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0x0101002466CB59952D8948A40C940080F80E59</vt:lpwstr>
  </property>
</Properties>
</file>